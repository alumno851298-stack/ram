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Space Mono Bold" charset="1" panose="02000809030000020004"/>
      <p:regular r:id="rId25"/>
    </p:embeddedFont>
    <p:embeddedFont>
      <p:font typeface="Space Mono" charset="1" panose="02000509040000020004"/>
      <p:regular r:id="rId26"/>
    </p:embeddedFont>
    <p:embeddedFont>
      <p:font typeface="Arimo Bold" charset="1" panose="020B0704020202020204"/>
      <p:regular r:id="rId31"/>
    </p:embeddedFont>
    <p:embeddedFont>
      <p:font typeface="Arimo" charset="1" panose="020B06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17" Target="../media/image30.png" Type="http://schemas.openxmlformats.org/officeDocument/2006/relationships/image"/><Relationship Id="rId18" Target="../media/image31.svg" Type="http://schemas.openxmlformats.org/officeDocument/2006/relationships/image"/><Relationship Id="rId19" Target="../media/image32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33.svg" Type="http://schemas.openxmlformats.org/officeDocument/2006/relationships/image"/><Relationship Id="rId21" Target="../media/image34.png" Type="http://schemas.openxmlformats.org/officeDocument/2006/relationships/image"/><Relationship Id="rId22" Target="../media/image35.svg" Type="http://schemas.openxmlformats.org/officeDocument/2006/relationships/image"/><Relationship Id="rId23" Target="../media/image36.png" Type="http://schemas.openxmlformats.org/officeDocument/2006/relationships/image"/><Relationship Id="rId24" Target="../media/image37.sv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3.jpeg" Type="http://schemas.openxmlformats.org/officeDocument/2006/relationships/image"/><Relationship Id="rId6" Target="../media/image19.jpe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2531" y="897731"/>
            <a:ext cx="890588" cy="109538"/>
            <a:chOff x="0" y="0"/>
            <a:chExt cx="1187450" cy="146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7450" cy="146050"/>
            </a:xfrm>
            <a:custGeom>
              <a:avLst/>
              <a:gdLst/>
              <a:ahLst/>
              <a:cxnLst/>
              <a:rect r="r" b="b" t="t" l="l"/>
              <a:pathLst>
                <a:path h="146050" w="1187450">
                  <a:moveTo>
                    <a:pt x="0" y="0"/>
                  </a:moveTo>
                  <a:lnTo>
                    <a:pt x="1187450" y="0"/>
                  </a:lnTo>
                  <a:lnTo>
                    <a:pt x="1187450" y="146050"/>
                  </a:lnTo>
                  <a:lnTo>
                    <a:pt x="0" y="1460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194843" y="9279712"/>
            <a:ext cx="890588" cy="109538"/>
            <a:chOff x="0" y="0"/>
            <a:chExt cx="1187450" cy="146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7450" cy="146050"/>
            </a:xfrm>
            <a:custGeom>
              <a:avLst/>
              <a:gdLst/>
              <a:ahLst/>
              <a:cxnLst/>
              <a:rect r="r" b="b" t="t" l="l"/>
              <a:pathLst>
                <a:path h="146050" w="1187450">
                  <a:moveTo>
                    <a:pt x="0" y="0"/>
                  </a:moveTo>
                  <a:lnTo>
                    <a:pt x="1187450" y="0"/>
                  </a:lnTo>
                  <a:lnTo>
                    <a:pt x="1187450" y="146050"/>
                  </a:lnTo>
                  <a:lnTo>
                    <a:pt x="0" y="1460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2531" y="3136097"/>
            <a:ext cx="2319338" cy="166688"/>
            <a:chOff x="0" y="0"/>
            <a:chExt cx="3092450" cy="222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92450" cy="222250"/>
            </a:xfrm>
            <a:custGeom>
              <a:avLst/>
              <a:gdLst/>
              <a:ahLst/>
              <a:cxnLst/>
              <a:rect r="r" b="b" t="t" l="l"/>
              <a:pathLst>
                <a:path h="222250" w="3092450">
                  <a:moveTo>
                    <a:pt x="0" y="0"/>
                  </a:moveTo>
                  <a:lnTo>
                    <a:pt x="3092450" y="0"/>
                  </a:lnTo>
                  <a:lnTo>
                    <a:pt x="3092450" y="222250"/>
                  </a:lnTo>
                  <a:lnTo>
                    <a:pt x="0" y="222250"/>
                  </a:lnTo>
                  <a:close/>
                </a:path>
              </a:pathLst>
            </a:custGeom>
            <a:solidFill>
              <a:srgbClr val="FACC15"/>
            </a:solidFill>
            <a:ln w="19050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66193" y="1412081"/>
            <a:ext cx="642938" cy="642938"/>
            <a:chOff x="0" y="0"/>
            <a:chExt cx="857250" cy="857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4330F"/>
            </a:solidFill>
            <a:ln w="19050" cap="sq">
              <a:solidFill>
                <a:srgbClr val="14330F"/>
              </a:solidFill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99543" y="1507331"/>
            <a:ext cx="376238" cy="452438"/>
          </a:xfrm>
          <a:custGeom>
            <a:avLst/>
            <a:gdLst/>
            <a:ahLst/>
            <a:cxnLst/>
            <a:rect r="r" b="b" t="t" l="l"/>
            <a:pathLst>
              <a:path h="452438" w="376238">
                <a:moveTo>
                  <a:pt x="0" y="0"/>
                </a:moveTo>
                <a:lnTo>
                  <a:pt x="376238" y="0"/>
                </a:lnTo>
                <a:lnTo>
                  <a:pt x="376238" y="452438"/>
                </a:lnTo>
                <a:lnTo>
                  <a:pt x="0" y="452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102756" y="990181"/>
            <a:ext cx="642938" cy="642938"/>
            <a:chOff x="0" y="0"/>
            <a:chExt cx="857250" cy="857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4330F"/>
            </a:solidFill>
            <a:ln w="19050" cap="sq">
              <a:solidFill>
                <a:srgbClr val="14330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202768" y="1090193"/>
            <a:ext cx="442912" cy="442912"/>
            <a:chOff x="0" y="0"/>
            <a:chExt cx="590550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0550" cy="590550"/>
            </a:xfrm>
            <a:custGeom>
              <a:avLst/>
              <a:gdLst/>
              <a:ahLst/>
              <a:cxnLst/>
              <a:rect r="r" b="b" t="t" l="l"/>
              <a:pathLst>
                <a:path h="590550" w="59055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cubicBezTo>
                    <a:pt x="458343" y="0"/>
                    <a:pt x="590550" y="132207"/>
                    <a:pt x="590550" y="295275"/>
                  </a:cubicBezTo>
                  <a:cubicBezTo>
                    <a:pt x="590550" y="458343"/>
                    <a:pt x="458343" y="590550"/>
                    <a:pt x="295275" y="590550"/>
                  </a:cubicBezTo>
                  <a:cubicBezTo>
                    <a:pt x="132207" y="590550"/>
                    <a:pt x="0" y="458343"/>
                    <a:pt x="0" y="29527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3" t="0" r="-78391" b="0"/>
              </a:stretch>
            </a:blipFill>
            <a:ln w="571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350406" y="1237831"/>
            <a:ext cx="147638" cy="147638"/>
            <a:chOff x="0" y="0"/>
            <a:chExt cx="196850" cy="1968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6850" cy="196850"/>
            </a:xfrm>
            <a:custGeom>
              <a:avLst/>
              <a:gdLst/>
              <a:ahLst/>
              <a:cxnLst/>
              <a:rect r="r" b="b" t="t" l="l"/>
              <a:pathLst>
                <a:path h="196850" w="196850">
                  <a:moveTo>
                    <a:pt x="0" y="98425"/>
                  </a:moveTo>
                  <a:cubicBezTo>
                    <a:pt x="0" y="44069"/>
                    <a:pt x="44069" y="0"/>
                    <a:pt x="98425" y="0"/>
                  </a:cubicBezTo>
                  <a:cubicBezTo>
                    <a:pt x="152781" y="0"/>
                    <a:pt x="196850" y="44069"/>
                    <a:pt x="196850" y="98425"/>
                  </a:cubicBezTo>
                  <a:cubicBezTo>
                    <a:pt x="196850" y="152781"/>
                    <a:pt x="152781" y="196850"/>
                    <a:pt x="98425" y="196850"/>
                  </a:cubicBezTo>
                  <a:cubicBezTo>
                    <a:pt x="44069" y="196850"/>
                    <a:pt x="0" y="152781"/>
                    <a:pt x="0" y="98425"/>
                  </a:cubicBez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6709193" y="5317322"/>
            <a:ext cx="642938" cy="642938"/>
            <a:chOff x="0" y="0"/>
            <a:chExt cx="857250" cy="857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4330F"/>
            </a:solidFill>
            <a:ln w="19050" cap="sq">
              <a:solidFill>
                <a:srgbClr val="14330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828256" y="5436384"/>
            <a:ext cx="404812" cy="404812"/>
            <a:chOff x="0" y="0"/>
            <a:chExt cx="539750" cy="5397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9750" cy="539750"/>
            </a:xfrm>
            <a:custGeom>
              <a:avLst/>
              <a:gdLst/>
              <a:ahLst/>
              <a:cxnLst/>
              <a:rect r="r" b="b" t="t" l="l"/>
              <a:pathLst>
                <a:path h="539750" w="539750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cubicBezTo>
                    <a:pt x="418846" y="0"/>
                    <a:pt x="539750" y="120904"/>
                    <a:pt x="539750" y="269875"/>
                  </a:cubicBezTo>
                  <a:cubicBezTo>
                    <a:pt x="539750" y="418846"/>
                    <a:pt x="418846" y="539750"/>
                    <a:pt x="269875" y="539750"/>
                  </a:cubicBezTo>
                  <a:cubicBezTo>
                    <a:pt x="120904" y="539750"/>
                    <a:pt x="0" y="418846"/>
                    <a:pt x="0" y="269875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2" b="0"/>
              </a:stretch>
            </a:blipFill>
            <a:ln w="571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1993619">
            <a:off x="7287511" y="3808428"/>
            <a:ext cx="9517609" cy="3836784"/>
            <a:chOff x="0" y="0"/>
            <a:chExt cx="12690145" cy="51157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90094" cy="5115687"/>
            </a:xfrm>
            <a:custGeom>
              <a:avLst/>
              <a:gdLst/>
              <a:ahLst/>
              <a:cxnLst/>
              <a:rect r="r" b="b" t="t" l="l"/>
              <a:pathLst>
                <a:path h="5115687" w="12690094">
                  <a:moveTo>
                    <a:pt x="0" y="0"/>
                  </a:moveTo>
                  <a:lnTo>
                    <a:pt x="12690094" y="0"/>
                  </a:lnTo>
                  <a:lnTo>
                    <a:pt x="12690094" y="5115687"/>
                  </a:lnTo>
                  <a:lnTo>
                    <a:pt x="0" y="511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2" r="0" b="-43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94763" y="5143500"/>
            <a:ext cx="11217974" cy="286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76"/>
              </a:lnSpc>
            </a:pPr>
            <a:r>
              <a:rPr lang="en-US" sz="18647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&gt;RAM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6126" y="7647032"/>
            <a:ext cx="10379021" cy="57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</a:pPr>
            <a:r>
              <a:rPr lang="en-US" sz="3086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Miriam Portales Ortiz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71575"/>
            <a:ext cx="15849562" cy="9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&gt;TABLE OF CONTENTS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04913" y="2985716"/>
            <a:ext cx="3728466" cy="2928575"/>
            <a:chOff x="0" y="0"/>
            <a:chExt cx="4971288" cy="39047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1288" cy="3904741"/>
            </a:xfrm>
            <a:custGeom>
              <a:avLst/>
              <a:gdLst/>
              <a:ahLst/>
              <a:cxnLst/>
              <a:rect r="r" b="b" t="t" l="l"/>
              <a:pathLst>
                <a:path h="3904741" w="4971288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4815078" y="0"/>
                  </a:lnTo>
                  <a:cubicBezTo>
                    <a:pt x="4901311" y="0"/>
                    <a:pt x="4971288" y="69977"/>
                    <a:pt x="4971288" y="156210"/>
                  </a:cubicBezTo>
                  <a:lnTo>
                    <a:pt x="4971288" y="3748531"/>
                  </a:lnTo>
                  <a:cubicBezTo>
                    <a:pt x="4971288" y="3834764"/>
                    <a:pt x="4901311" y="3904741"/>
                    <a:pt x="4815078" y="3904741"/>
                  </a:cubicBezTo>
                  <a:lnTo>
                    <a:pt x="156210" y="3904741"/>
                  </a:lnTo>
                  <a:cubicBezTo>
                    <a:pt x="69977" y="3904741"/>
                    <a:pt x="0" y="3834764"/>
                    <a:pt x="0" y="3748531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71288" cy="3952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01</a:t>
              </a:r>
            </a:p>
            <a:p>
              <a:pPr algn="l">
                <a:lnSpc>
                  <a:spcPts val="3695"/>
                </a:lnSpc>
              </a:pPr>
              <a:r>
                <a:rPr lang="en-US" sz="2799" b="true">
                  <a:solidFill>
                    <a:srgbClr val="D9FBC8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Introduction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54800" y="2985716"/>
            <a:ext cx="3728466" cy="2928575"/>
            <a:chOff x="0" y="0"/>
            <a:chExt cx="4971288" cy="39047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1288" cy="3904741"/>
            </a:xfrm>
            <a:custGeom>
              <a:avLst/>
              <a:gdLst/>
              <a:ahLst/>
              <a:cxnLst/>
              <a:rect r="r" b="b" t="t" l="l"/>
              <a:pathLst>
                <a:path h="3904741" w="4971288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4815078" y="0"/>
                  </a:lnTo>
                  <a:cubicBezTo>
                    <a:pt x="4901311" y="0"/>
                    <a:pt x="4971288" y="69977"/>
                    <a:pt x="4971288" y="156210"/>
                  </a:cubicBezTo>
                  <a:lnTo>
                    <a:pt x="4971288" y="3748531"/>
                  </a:lnTo>
                  <a:cubicBezTo>
                    <a:pt x="4971288" y="3834764"/>
                    <a:pt x="4901311" y="3904741"/>
                    <a:pt x="4815078" y="3904741"/>
                  </a:cubicBezTo>
                  <a:lnTo>
                    <a:pt x="156210" y="3904741"/>
                  </a:lnTo>
                  <a:cubicBezTo>
                    <a:pt x="69977" y="3904741"/>
                    <a:pt x="0" y="3834764"/>
                    <a:pt x="0" y="3748531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971288" cy="3952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02</a:t>
              </a:r>
            </a:p>
            <a:p>
              <a:pPr algn="l">
                <a:lnSpc>
                  <a:spcPts val="3695"/>
                </a:lnSpc>
              </a:pPr>
              <a:r>
                <a:rPr lang="en-US" sz="2799" b="true">
                  <a:solidFill>
                    <a:srgbClr val="D9FBC8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Types of memory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04696" y="2985716"/>
            <a:ext cx="3728466" cy="2928575"/>
            <a:chOff x="0" y="0"/>
            <a:chExt cx="4971288" cy="3904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71288" cy="3904741"/>
            </a:xfrm>
            <a:custGeom>
              <a:avLst/>
              <a:gdLst/>
              <a:ahLst/>
              <a:cxnLst/>
              <a:rect r="r" b="b" t="t" l="l"/>
              <a:pathLst>
                <a:path h="3904741" w="4971288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4815078" y="0"/>
                  </a:lnTo>
                  <a:cubicBezTo>
                    <a:pt x="4901311" y="0"/>
                    <a:pt x="4971288" y="69977"/>
                    <a:pt x="4971288" y="156210"/>
                  </a:cubicBezTo>
                  <a:lnTo>
                    <a:pt x="4971288" y="3748531"/>
                  </a:lnTo>
                  <a:cubicBezTo>
                    <a:pt x="4971288" y="3834764"/>
                    <a:pt x="4901311" y="3904741"/>
                    <a:pt x="4815078" y="3904741"/>
                  </a:cubicBezTo>
                  <a:lnTo>
                    <a:pt x="156210" y="3904741"/>
                  </a:lnTo>
                  <a:cubicBezTo>
                    <a:pt x="69977" y="3904741"/>
                    <a:pt x="0" y="3834764"/>
                    <a:pt x="0" y="3748531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971288" cy="3952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03</a:t>
              </a:r>
            </a:p>
            <a:p>
              <a:pPr algn="l">
                <a:lnSpc>
                  <a:spcPts val="3695"/>
                </a:lnSpc>
              </a:pPr>
              <a:r>
                <a:rPr lang="en-US" sz="2799" b="true">
                  <a:solidFill>
                    <a:srgbClr val="D9FBC8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How RAM works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54583" y="2985716"/>
            <a:ext cx="3728466" cy="2928575"/>
            <a:chOff x="0" y="0"/>
            <a:chExt cx="4971288" cy="3904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71288" cy="3904741"/>
            </a:xfrm>
            <a:custGeom>
              <a:avLst/>
              <a:gdLst/>
              <a:ahLst/>
              <a:cxnLst/>
              <a:rect r="r" b="b" t="t" l="l"/>
              <a:pathLst>
                <a:path h="3904741" w="4971288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4815078" y="0"/>
                  </a:lnTo>
                  <a:cubicBezTo>
                    <a:pt x="4901311" y="0"/>
                    <a:pt x="4971288" y="69977"/>
                    <a:pt x="4971288" y="156210"/>
                  </a:cubicBezTo>
                  <a:lnTo>
                    <a:pt x="4971288" y="3748531"/>
                  </a:lnTo>
                  <a:cubicBezTo>
                    <a:pt x="4971288" y="3834764"/>
                    <a:pt x="4901311" y="3904741"/>
                    <a:pt x="4815078" y="3904741"/>
                  </a:cubicBezTo>
                  <a:lnTo>
                    <a:pt x="156210" y="3904741"/>
                  </a:lnTo>
                  <a:cubicBezTo>
                    <a:pt x="69977" y="3904741"/>
                    <a:pt x="0" y="3834764"/>
                    <a:pt x="0" y="3748531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71288" cy="3952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04</a:t>
              </a:r>
            </a:p>
            <a:p>
              <a:pPr algn="l">
                <a:lnSpc>
                  <a:spcPts val="3695"/>
                </a:lnSpc>
              </a:pPr>
              <a:r>
                <a:rPr lang="en-US" sz="2799" b="true">
                  <a:solidFill>
                    <a:srgbClr val="D9FBC8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Memory pyramid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4913" y="6235713"/>
            <a:ext cx="3728466" cy="2928575"/>
            <a:chOff x="0" y="0"/>
            <a:chExt cx="4971288" cy="39047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71288" cy="3904741"/>
            </a:xfrm>
            <a:custGeom>
              <a:avLst/>
              <a:gdLst/>
              <a:ahLst/>
              <a:cxnLst/>
              <a:rect r="r" b="b" t="t" l="l"/>
              <a:pathLst>
                <a:path h="3904741" w="4971288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4815078" y="0"/>
                  </a:lnTo>
                  <a:cubicBezTo>
                    <a:pt x="4901311" y="0"/>
                    <a:pt x="4971288" y="69977"/>
                    <a:pt x="4971288" y="156210"/>
                  </a:cubicBezTo>
                  <a:lnTo>
                    <a:pt x="4971288" y="3748531"/>
                  </a:lnTo>
                  <a:cubicBezTo>
                    <a:pt x="4971288" y="3834764"/>
                    <a:pt x="4901311" y="3904741"/>
                    <a:pt x="4815078" y="3904741"/>
                  </a:cubicBezTo>
                  <a:lnTo>
                    <a:pt x="156210" y="3904741"/>
                  </a:lnTo>
                  <a:cubicBezTo>
                    <a:pt x="69977" y="3904741"/>
                    <a:pt x="0" y="3834764"/>
                    <a:pt x="0" y="3748531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971288" cy="3952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05</a:t>
              </a:r>
            </a:p>
            <a:p>
              <a:pPr algn="l">
                <a:lnSpc>
                  <a:spcPts val="3695"/>
                </a:lnSpc>
              </a:pPr>
              <a:r>
                <a:rPr lang="en-US" sz="2799" b="true">
                  <a:solidFill>
                    <a:srgbClr val="D9FBC8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CPU and motherboard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54800" y="6235713"/>
            <a:ext cx="3728466" cy="2928575"/>
            <a:chOff x="0" y="0"/>
            <a:chExt cx="4971288" cy="39047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71288" cy="3904741"/>
            </a:xfrm>
            <a:custGeom>
              <a:avLst/>
              <a:gdLst/>
              <a:ahLst/>
              <a:cxnLst/>
              <a:rect r="r" b="b" t="t" l="l"/>
              <a:pathLst>
                <a:path h="3904741" w="4971288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4815078" y="0"/>
                  </a:lnTo>
                  <a:cubicBezTo>
                    <a:pt x="4901311" y="0"/>
                    <a:pt x="4971288" y="69977"/>
                    <a:pt x="4971288" y="156210"/>
                  </a:cubicBezTo>
                  <a:lnTo>
                    <a:pt x="4971288" y="3748531"/>
                  </a:lnTo>
                  <a:cubicBezTo>
                    <a:pt x="4971288" y="3834764"/>
                    <a:pt x="4901311" y="3904741"/>
                    <a:pt x="4815078" y="3904741"/>
                  </a:cubicBezTo>
                  <a:lnTo>
                    <a:pt x="156210" y="3904741"/>
                  </a:lnTo>
                  <a:cubicBezTo>
                    <a:pt x="69977" y="3904741"/>
                    <a:pt x="0" y="3834764"/>
                    <a:pt x="0" y="3748531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71288" cy="3952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06</a:t>
              </a:r>
            </a:p>
            <a:p>
              <a:pPr algn="l">
                <a:lnSpc>
                  <a:spcPts val="3695"/>
                </a:lnSpc>
              </a:pPr>
              <a:r>
                <a:rPr lang="en-US" sz="2799" b="true">
                  <a:solidFill>
                    <a:srgbClr val="D9FBC8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DDR4 vs DDR5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04696" y="6235713"/>
            <a:ext cx="3728466" cy="2928575"/>
            <a:chOff x="0" y="0"/>
            <a:chExt cx="4971288" cy="39047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71288" cy="3904741"/>
            </a:xfrm>
            <a:custGeom>
              <a:avLst/>
              <a:gdLst/>
              <a:ahLst/>
              <a:cxnLst/>
              <a:rect r="r" b="b" t="t" l="l"/>
              <a:pathLst>
                <a:path h="3904741" w="4971288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4815078" y="0"/>
                  </a:lnTo>
                  <a:cubicBezTo>
                    <a:pt x="4901311" y="0"/>
                    <a:pt x="4971288" y="69977"/>
                    <a:pt x="4971288" y="156210"/>
                  </a:cubicBezTo>
                  <a:lnTo>
                    <a:pt x="4971288" y="3748531"/>
                  </a:lnTo>
                  <a:cubicBezTo>
                    <a:pt x="4971288" y="3834764"/>
                    <a:pt x="4901311" y="3904741"/>
                    <a:pt x="4815078" y="3904741"/>
                  </a:cubicBezTo>
                  <a:lnTo>
                    <a:pt x="156210" y="3904741"/>
                  </a:lnTo>
                  <a:cubicBezTo>
                    <a:pt x="69977" y="3904741"/>
                    <a:pt x="0" y="3834764"/>
                    <a:pt x="0" y="3748531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971288" cy="3952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07</a:t>
              </a:r>
            </a:p>
            <a:p>
              <a:pPr algn="l">
                <a:lnSpc>
                  <a:spcPts val="3695"/>
                </a:lnSpc>
              </a:pPr>
              <a:r>
                <a:rPr lang="en-US" sz="2799" b="true">
                  <a:solidFill>
                    <a:srgbClr val="D9FBC8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DIMM, SO-DIMM and RAM kits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54583" y="6235713"/>
            <a:ext cx="3728466" cy="2928575"/>
            <a:chOff x="0" y="0"/>
            <a:chExt cx="4971288" cy="390476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1288" cy="3904741"/>
            </a:xfrm>
            <a:custGeom>
              <a:avLst/>
              <a:gdLst/>
              <a:ahLst/>
              <a:cxnLst/>
              <a:rect r="r" b="b" t="t" l="l"/>
              <a:pathLst>
                <a:path h="3904741" w="4971288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4815078" y="0"/>
                  </a:lnTo>
                  <a:cubicBezTo>
                    <a:pt x="4901311" y="0"/>
                    <a:pt x="4971288" y="69977"/>
                    <a:pt x="4971288" y="156210"/>
                  </a:cubicBezTo>
                  <a:lnTo>
                    <a:pt x="4971288" y="3748531"/>
                  </a:lnTo>
                  <a:cubicBezTo>
                    <a:pt x="4971288" y="3834764"/>
                    <a:pt x="4901311" y="3904741"/>
                    <a:pt x="4815078" y="3904741"/>
                  </a:cubicBezTo>
                  <a:lnTo>
                    <a:pt x="156210" y="3904741"/>
                  </a:lnTo>
                  <a:cubicBezTo>
                    <a:pt x="69977" y="3904741"/>
                    <a:pt x="0" y="3834764"/>
                    <a:pt x="0" y="3748531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971288" cy="395239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08</a:t>
              </a:r>
            </a:p>
            <a:p>
              <a:pPr algn="l">
                <a:lnSpc>
                  <a:spcPts val="3695"/>
                </a:lnSpc>
              </a:pPr>
              <a:r>
                <a:rPr lang="en-US" sz="2799" b="true">
                  <a:solidFill>
                    <a:srgbClr val="D9FBC8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Kahoot quiz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71575"/>
            <a:ext cx="15849562" cy="9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2200265"/>
            <a:ext cx="15849562" cy="7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RAM = Random Access Memory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4912" y="3085709"/>
            <a:ext cx="7778353" cy="2928576"/>
            <a:chOff x="0" y="0"/>
            <a:chExt cx="10371138" cy="3904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1201" cy="3904742"/>
            </a:xfrm>
            <a:custGeom>
              <a:avLst/>
              <a:gdLst/>
              <a:ahLst/>
              <a:cxnLst/>
              <a:rect r="r" b="b" t="t" l="l"/>
              <a:pathLst>
                <a:path h="3904742" w="10371201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10214991" y="0"/>
                  </a:lnTo>
                  <a:cubicBezTo>
                    <a:pt x="10301224" y="0"/>
                    <a:pt x="10371201" y="69977"/>
                    <a:pt x="10371201" y="156210"/>
                  </a:cubicBezTo>
                  <a:lnTo>
                    <a:pt x="10371201" y="3748532"/>
                  </a:lnTo>
                  <a:cubicBezTo>
                    <a:pt x="10371201" y="3834765"/>
                    <a:pt x="10301224" y="3904742"/>
                    <a:pt x="10214991" y="3904742"/>
                  </a:cubicBezTo>
                  <a:lnTo>
                    <a:pt x="156210" y="3904742"/>
                  </a:lnTo>
                  <a:cubicBezTo>
                    <a:pt x="69977" y="3904742"/>
                    <a:pt x="0" y="3834765"/>
                    <a:pt x="0" y="3748532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371138" cy="393334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What is RAM?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RAM is the main memory of a computer.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04696" y="3085709"/>
            <a:ext cx="7778353" cy="2928576"/>
            <a:chOff x="0" y="0"/>
            <a:chExt cx="10371138" cy="39047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71201" cy="3904742"/>
            </a:xfrm>
            <a:custGeom>
              <a:avLst/>
              <a:gdLst/>
              <a:ahLst/>
              <a:cxnLst/>
              <a:rect r="r" b="b" t="t" l="l"/>
              <a:pathLst>
                <a:path h="3904742" w="10371201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10214991" y="0"/>
                  </a:lnTo>
                  <a:cubicBezTo>
                    <a:pt x="10301224" y="0"/>
                    <a:pt x="10371201" y="69977"/>
                    <a:pt x="10371201" y="156210"/>
                  </a:cubicBezTo>
                  <a:lnTo>
                    <a:pt x="10371201" y="3748532"/>
                  </a:lnTo>
                  <a:cubicBezTo>
                    <a:pt x="10371201" y="3834765"/>
                    <a:pt x="10301224" y="3904742"/>
                    <a:pt x="10214991" y="3904742"/>
                  </a:cubicBezTo>
                  <a:lnTo>
                    <a:pt x="156210" y="3904742"/>
                  </a:lnTo>
                  <a:cubicBezTo>
                    <a:pt x="69977" y="3904742"/>
                    <a:pt x="0" y="3834765"/>
                    <a:pt x="0" y="3748532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371138" cy="393334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What does it store?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data and instructions the CPU is using right now: the operating system, open programs and files you edit.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4912" y="6335716"/>
            <a:ext cx="7778353" cy="2928576"/>
            <a:chOff x="0" y="0"/>
            <a:chExt cx="10371138" cy="3904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71201" cy="3904742"/>
            </a:xfrm>
            <a:custGeom>
              <a:avLst/>
              <a:gdLst/>
              <a:ahLst/>
              <a:cxnLst/>
              <a:rect r="r" b="b" t="t" l="l"/>
              <a:pathLst>
                <a:path h="3904742" w="10371201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10214991" y="0"/>
                  </a:lnTo>
                  <a:cubicBezTo>
                    <a:pt x="10301224" y="0"/>
                    <a:pt x="10371201" y="69977"/>
                    <a:pt x="10371201" y="156210"/>
                  </a:cubicBezTo>
                  <a:lnTo>
                    <a:pt x="10371201" y="3748532"/>
                  </a:lnTo>
                  <a:cubicBezTo>
                    <a:pt x="10371201" y="3834765"/>
                    <a:pt x="10301224" y="3904742"/>
                    <a:pt x="10214991" y="3904742"/>
                  </a:cubicBezTo>
                  <a:lnTo>
                    <a:pt x="156210" y="3904742"/>
                  </a:lnTo>
                  <a:cubicBezTo>
                    <a:pt x="69977" y="3904742"/>
                    <a:pt x="0" y="3834765"/>
                    <a:pt x="0" y="3748532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371138" cy="393334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Why is it fast?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It is much faster than a storage drive (HDD or SSD), so the CPU does not wait for the disk.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04696" y="6335716"/>
            <a:ext cx="7778353" cy="2928576"/>
            <a:chOff x="0" y="0"/>
            <a:chExt cx="10371138" cy="39047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71201" cy="3904742"/>
            </a:xfrm>
            <a:custGeom>
              <a:avLst/>
              <a:gdLst/>
              <a:ahLst/>
              <a:cxnLst/>
              <a:rect r="r" b="b" t="t" l="l"/>
              <a:pathLst>
                <a:path h="3904742" w="10371201">
                  <a:moveTo>
                    <a:pt x="0" y="156210"/>
                  </a:moveTo>
                  <a:cubicBezTo>
                    <a:pt x="0" y="69977"/>
                    <a:pt x="69977" y="0"/>
                    <a:pt x="156210" y="0"/>
                  </a:cubicBezTo>
                  <a:lnTo>
                    <a:pt x="10214991" y="0"/>
                  </a:lnTo>
                  <a:cubicBezTo>
                    <a:pt x="10301224" y="0"/>
                    <a:pt x="10371201" y="69977"/>
                    <a:pt x="10371201" y="156210"/>
                  </a:cubicBezTo>
                  <a:lnTo>
                    <a:pt x="10371201" y="3748532"/>
                  </a:lnTo>
                  <a:cubicBezTo>
                    <a:pt x="10371201" y="3834765"/>
                    <a:pt x="10301224" y="3904742"/>
                    <a:pt x="10214991" y="3904742"/>
                  </a:cubicBezTo>
                  <a:lnTo>
                    <a:pt x="156210" y="3904742"/>
                  </a:lnTo>
                  <a:cubicBezTo>
                    <a:pt x="69977" y="3904742"/>
                    <a:pt x="0" y="3834765"/>
                    <a:pt x="0" y="3748532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371138" cy="393334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Why more RAM?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more RAM a computer has, the more programs it can run at the same time.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4197" y="2308612"/>
            <a:ext cx="7784306" cy="5384006"/>
          </a:xfrm>
          <a:custGeom>
            <a:avLst/>
            <a:gdLst/>
            <a:ahLst/>
            <a:cxnLst/>
            <a:rect r="r" b="b" t="t" l="l"/>
            <a:pathLst>
              <a:path h="5384006" w="7784306">
                <a:moveTo>
                  <a:pt x="0" y="0"/>
                </a:moveTo>
                <a:lnTo>
                  <a:pt x="7784306" y="0"/>
                </a:lnTo>
                <a:lnTo>
                  <a:pt x="7784306" y="5384007"/>
                </a:lnTo>
                <a:lnTo>
                  <a:pt x="0" y="53840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5709" y="2353456"/>
            <a:ext cx="7661253" cy="527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Volatile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Loses its information when the computer turns off.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Stores what the CPU needs quickly while programs are running.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Examples: RAM, cache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09468" y="2308612"/>
            <a:ext cx="7784306" cy="5384006"/>
          </a:xfrm>
          <a:custGeom>
            <a:avLst/>
            <a:gdLst/>
            <a:ahLst/>
            <a:cxnLst/>
            <a:rect r="r" b="b" t="t" l="l"/>
            <a:pathLst>
              <a:path h="5384006" w="7784306">
                <a:moveTo>
                  <a:pt x="0" y="0"/>
                </a:moveTo>
                <a:lnTo>
                  <a:pt x="7784307" y="0"/>
                </a:lnTo>
                <a:lnTo>
                  <a:pt x="7784307" y="5384007"/>
                </a:lnTo>
                <a:lnTo>
                  <a:pt x="0" y="53840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370981" y="2353456"/>
            <a:ext cx="7661253" cy="527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Non-volatile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Keeps its information when the computer turns off.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Stores data and instructions for the long term.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Examples: ROM, SSDs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19200" y="4398083"/>
            <a:ext cx="7411907" cy="2967180"/>
            <a:chOff x="0" y="0"/>
            <a:chExt cx="9882543" cy="3956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82505" cy="3956304"/>
            </a:xfrm>
            <a:custGeom>
              <a:avLst/>
              <a:gdLst/>
              <a:ahLst/>
              <a:cxnLst/>
              <a:rect r="r" b="b" t="t" l="l"/>
              <a:pathLst>
                <a:path h="3956304" w="9882505">
                  <a:moveTo>
                    <a:pt x="0" y="0"/>
                  </a:moveTo>
                  <a:lnTo>
                    <a:pt x="9882505" y="0"/>
                  </a:lnTo>
                  <a:lnTo>
                    <a:pt x="9882505" y="3956304"/>
                  </a:lnTo>
                  <a:lnTo>
                    <a:pt x="0" y="3956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98784" y="4964382"/>
            <a:ext cx="3313700" cy="2207847"/>
            <a:chOff x="0" y="0"/>
            <a:chExt cx="4418266" cy="29437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18203" cy="2943860"/>
            </a:xfrm>
            <a:custGeom>
              <a:avLst/>
              <a:gdLst/>
              <a:ahLst/>
              <a:cxnLst/>
              <a:rect r="r" b="b" t="t" l="l"/>
              <a:pathLst>
                <a:path h="29438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943860"/>
                  </a:lnTo>
                  <a:lnTo>
                    <a:pt x="0" y="2943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8" r="-1" b="-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17926" y="4566228"/>
            <a:ext cx="4328493" cy="2864444"/>
            <a:chOff x="0" y="0"/>
            <a:chExt cx="5771324" cy="38192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71388" cy="3819271"/>
            </a:xfrm>
            <a:custGeom>
              <a:avLst/>
              <a:gdLst/>
              <a:ahLst/>
              <a:cxnLst/>
              <a:rect r="r" b="b" t="t" l="l"/>
              <a:pathLst>
                <a:path h="3819271" w="5771388">
                  <a:moveTo>
                    <a:pt x="0" y="0"/>
                  </a:moveTo>
                  <a:lnTo>
                    <a:pt x="5771388" y="0"/>
                  </a:lnTo>
                  <a:lnTo>
                    <a:pt x="5771388" y="3819271"/>
                  </a:lnTo>
                  <a:lnTo>
                    <a:pt x="0" y="3819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0" r="1" b="-49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&gt;VOLATILE VS NON-VOLATILE MEMORY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4197" y="2927737"/>
            <a:ext cx="5129975" cy="5626056"/>
          </a:xfrm>
          <a:custGeom>
            <a:avLst/>
            <a:gdLst/>
            <a:ahLst/>
            <a:cxnLst/>
            <a:rect r="r" b="b" t="t" l="l"/>
            <a:pathLst>
              <a:path h="5626056" w="5129975">
                <a:moveTo>
                  <a:pt x="0" y="0"/>
                </a:moveTo>
                <a:lnTo>
                  <a:pt x="5129974" y="0"/>
                </a:lnTo>
                <a:lnTo>
                  <a:pt x="5129974" y="5626056"/>
                </a:lnTo>
                <a:lnTo>
                  <a:pt x="0" y="5626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5709" y="3005919"/>
            <a:ext cx="5006959" cy="548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RAM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Volatile. Stores data and instructions for immediate execution. More capacity helps multitasking.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578984" y="2927737"/>
            <a:ext cx="5129975" cy="5626056"/>
          </a:xfrm>
          <a:custGeom>
            <a:avLst/>
            <a:gdLst/>
            <a:ahLst/>
            <a:cxnLst/>
            <a:rect r="r" b="b" t="t" l="l"/>
            <a:pathLst>
              <a:path h="5626056" w="5129975">
                <a:moveTo>
                  <a:pt x="0" y="0"/>
                </a:moveTo>
                <a:lnTo>
                  <a:pt x="5129975" y="0"/>
                </a:lnTo>
                <a:lnTo>
                  <a:pt x="5129975" y="5626056"/>
                </a:lnTo>
                <a:lnTo>
                  <a:pt x="0" y="5626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40497" y="3005919"/>
            <a:ext cx="5006959" cy="548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Cache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Volatile. Keeps copies of frequently used RAM data so the CPU works faster. Faster than RAM, but smaller.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963762" y="2927737"/>
            <a:ext cx="5129975" cy="5626056"/>
          </a:xfrm>
          <a:custGeom>
            <a:avLst/>
            <a:gdLst/>
            <a:ahLst/>
            <a:cxnLst/>
            <a:rect r="r" b="b" t="t" l="l"/>
            <a:pathLst>
              <a:path h="5626056" w="5129975">
                <a:moveTo>
                  <a:pt x="0" y="0"/>
                </a:moveTo>
                <a:lnTo>
                  <a:pt x="5129974" y="0"/>
                </a:lnTo>
                <a:lnTo>
                  <a:pt x="5129974" y="5626056"/>
                </a:lnTo>
                <a:lnTo>
                  <a:pt x="0" y="5626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025274" y="3005919"/>
            <a:ext cx="5006959" cy="548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ROM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Non-volatile. Its content is not easily changed by the user. Stores start-up instructions and basic hardware settings.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612453" y="5629599"/>
            <a:ext cx="3968172" cy="2360190"/>
            <a:chOff x="0" y="0"/>
            <a:chExt cx="5290896" cy="3146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90947" cy="3146933"/>
            </a:xfrm>
            <a:custGeom>
              <a:avLst/>
              <a:gdLst/>
              <a:ahLst/>
              <a:cxnLst/>
              <a:rect r="r" b="b" t="t" l="l"/>
              <a:pathLst>
                <a:path h="3146933" w="5290947">
                  <a:moveTo>
                    <a:pt x="0" y="0"/>
                  </a:moveTo>
                  <a:lnTo>
                    <a:pt x="5290947" y="0"/>
                  </a:lnTo>
                  <a:lnTo>
                    <a:pt x="5290947" y="3146933"/>
                  </a:lnTo>
                  <a:lnTo>
                    <a:pt x="0" y="3146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8" r="0" b="-10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3291" y="4613796"/>
            <a:ext cx="4391797" cy="4391797"/>
            <a:chOff x="0" y="0"/>
            <a:chExt cx="5855729" cy="58557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55716" cy="5855716"/>
            </a:xfrm>
            <a:custGeom>
              <a:avLst/>
              <a:gdLst/>
              <a:ahLst/>
              <a:cxnLst/>
              <a:rect r="r" b="b" t="t" l="l"/>
              <a:pathLst>
                <a:path h="5855716" w="5855716">
                  <a:moveTo>
                    <a:pt x="0" y="0"/>
                  </a:moveTo>
                  <a:lnTo>
                    <a:pt x="5855716" y="0"/>
                  </a:lnTo>
                  <a:lnTo>
                    <a:pt x="5855716" y="5855716"/>
                  </a:lnTo>
                  <a:lnTo>
                    <a:pt x="0" y="5855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55333" y="4876905"/>
            <a:ext cx="4578991" cy="3434239"/>
            <a:chOff x="0" y="0"/>
            <a:chExt cx="6105322" cy="45789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05271" cy="4578985"/>
            </a:xfrm>
            <a:custGeom>
              <a:avLst/>
              <a:gdLst/>
              <a:ahLst/>
              <a:cxnLst/>
              <a:rect r="r" b="b" t="t" l="l"/>
              <a:pathLst>
                <a:path h="4578985" w="6105271">
                  <a:moveTo>
                    <a:pt x="0" y="0"/>
                  </a:moveTo>
                  <a:lnTo>
                    <a:pt x="6105271" y="0"/>
                  </a:lnTo>
                  <a:lnTo>
                    <a:pt x="6105271" y="4578985"/>
                  </a:lnTo>
                  <a:lnTo>
                    <a:pt x="0" y="4578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&gt;RAM, CACHE AND ROM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9200" y="2219315"/>
            <a:ext cx="158495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They differ in volatility, speed and function.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71575"/>
            <a:ext cx="15849562" cy="9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&gt;HOW RAM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04912" y="2485711"/>
            <a:ext cx="7778353" cy="3328578"/>
            <a:chOff x="0" y="0"/>
            <a:chExt cx="10371138" cy="44381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71201" cy="4438142"/>
            </a:xfrm>
            <a:custGeom>
              <a:avLst/>
              <a:gdLst/>
              <a:ahLst/>
              <a:cxnLst/>
              <a:rect r="r" b="b" t="t" l="l"/>
              <a:pathLst>
                <a:path h="4438142" w="10371201">
                  <a:moveTo>
                    <a:pt x="0" y="177546"/>
                  </a:moveTo>
                  <a:cubicBezTo>
                    <a:pt x="0" y="79502"/>
                    <a:pt x="79502" y="0"/>
                    <a:pt x="177546" y="0"/>
                  </a:cubicBezTo>
                  <a:lnTo>
                    <a:pt x="10193655" y="0"/>
                  </a:lnTo>
                  <a:cubicBezTo>
                    <a:pt x="10291699" y="0"/>
                    <a:pt x="10371201" y="79502"/>
                    <a:pt x="10371201" y="177546"/>
                  </a:cubicBezTo>
                  <a:lnTo>
                    <a:pt x="10371201" y="4260596"/>
                  </a:lnTo>
                  <a:cubicBezTo>
                    <a:pt x="10371201" y="4358640"/>
                    <a:pt x="10291699" y="4438142"/>
                    <a:pt x="10193655" y="4438142"/>
                  </a:cubicBezTo>
                  <a:lnTo>
                    <a:pt x="177546" y="4438142"/>
                  </a:lnTo>
                  <a:cubicBezTo>
                    <a:pt x="79502" y="4438142"/>
                    <a:pt x="0" y="4358640"/>
                    <a:pt x="0" y="4260596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371138" cy="446667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1. Open a program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operating system copies it from the drive (slow, non-volatile) into RAM (fast, volatile).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04696" y="2485711"/>
            <a:ext cx="7778353" cy="3328578"/>
            <a:chOff x="0" y="0"/>
            <a:chExt cx="10371138" cy="44381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71201" cy="4438142"/>
            </a:xfrm>
            <a:custGeom>
              <a:avLst/>
              <a:gdLst/>
              <a:ahLst/>
              <a:cxnLst/>
              <a:rect r="r" b="b" t="t" l="l"/>
              <a:pathLst>
                <a:path h="4438142" w="10371201">
                  <a:moveTo>
                    <a:pt x="0" y="177546"/>
                  </a:moveTo>
                  <a:cubicBezTo>
                    <a:pt x="0" y="79502"/>
                    <a:pt x="79502" y="0"/>
                    <a:pt x="177546" y="0"/>
                  </a:cubicBezTo>
                  <a:lnTo>
                    <a:pt x="10193655" y="0"/>
                  </a:lnTo>
                  <a:cubicBezTo>
                    <a:pt x="10291699" y="0"/>
                    <a:pt x="10371201" y="79502"/>
                    <a:pt x="10371201" y="177546"/>
                  </a:cubicBezTo>
                  <a:lnTo>
                    <a:pt x="10371201" y="4260596"/>
                  </a:lnTo>
                  <a:cubicBezTo>
                    <a:pt x="10371201" y="4358640"/>
                    <a:pt x="10291699" y="4438142"/>
                    <a:pt x="10193655" y="4438142"/>
                  </a:cubicBezTo>
                  <a:lnTo>
                    <a:pt x="177546" y="4438142"/>
                  </a:lnTo>
                  <a:cubicBezTo>
                    <a:pt x="79502" y="4438142"/>
                    <a:pt x="0" y="4358640"/>
                    <a:pt x="0" y="4260596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371138" cy="446667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2. Work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CPU reads instructions and data from RAM and writes the results back.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4912" y="6135710"/>
            <a:ext cx="7778353" cy="3328578"/>
            <a:chOff x="0" y="0"/>
            <a:chExt cx="10371138" cy="44381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71201" cy="4438142"/>
            </a:xfrm>
            <a:custGeom>
              <a:avLst/>
              <a:gdLst/>
              <a:ahLst/>
              <a:cxnLst/>
              <a:rect r="r" b="b" t="t" l="l"/>
              <a:pathLst>
                <a:path h="4438142" w="10371201">
                  <a:moveTo>
                    <a:pt x="0" y="177546"/>
                  </a:moveTo>
                  <a:cubicBezTo>
                    <a:pt x="0" y="79502"/>
                    <a:pt x="79502" y="0"/>
                    <a:pt x="177546" y="0"/>
                  </a:cubicBezTo>
                  <a:lnTo>
                    <a:pt x="10193655" y="0"/>
                  </a:lnTo>
                  <a:cubicBezTo>
                    <a:pt x="10291699" y="0"/>
                    <a:pt x="10371201" y="79502"/>
                    <a:pt x="10371201" y="177546"/>
                  </a:cubicBezTo>
                  <a:lnTo>
                    <a:pt x="10371201" y="4260596"/>
                  </a:lnTo>
                  <a:cubicBezTo>
                    <a:pt x="10371201" y="4358640"/>
                    <a:pt x="10291699" y="4438142"/>
                    <a:pt x="10193655" y="4438142"/>
                  </a:cubicBezTo>
                  <a:lnTo>
                    <a:pt x="177546" y="4438142"/>
                  </a:lnTo>
                  <a:cubicBezTo>
                    <a:pt x="79502" y="4438142"/>
                    <a:pt x="0" y="4358640"/>
                    <a:pt x="0" y="4260596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371138" cy="446667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3. Close or turn off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When you close the program or turn off the computer, the RAM is cleared.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04696" y="6135710"/>
            <a:ext cx="7778353" cy="3328578"/>
            <a:chOff x="0" y="0"/>
            <a:chExt cx="10371138" cy="44381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71201" cy="4438142"/>
            </a:xfrm>
            <a:custGeom>
              <a:avLst/>
              <a:gdLst/>
              <a:ahLst/>
              <a:cxnLst/>
              <a:rect r="r" b="b" t="t" l="l"/>
              <a:pathLst>
                <a:path h="4438142" w="10371201">
                  <a:moveTo>
                    <a:pt x="0" y="177546"/>
                  </a:moveTo>
                  <a:cubicBezTo>
                    <a:pt x="0" y="79502"/>
                    <a:pt x="79502" y="0"/>
                    <a:pt x="177546" y="0"/>
                  </a:cubicBezTo>
                  <a:lnTo>
                    <a:pt x="10193655" y="0"/>
                  </a:lnTo>
                  <a:cubicBezTo>
                    <a:pt x="10291699" y="0"/>
                    <a:pt x="10371201" y="79502"/>
                    <a:pt x="10371201" y="177546"/>
                  </a:cubicBezTo>
                  <a:lnTo>
                    <a:pt x="10371201" y="4260596"/>
                  </a:lnTo>
                  <a:cubicBezTo>
                    <a:pt x="10371201" y="4358640"/>
                    <a:pt x="10291699" y="4438142"/>
                    <a:pt x="10193655" y="4438142"/>
                  </a:cubicBezTo>
                  <a:lnTo>
                    <a:pt x="177546" y="4438142"/>
                  </a:lnTo>
                  <a:cubicBezTo>
                    <a:pt x="79502" y="4438142"/>
                    <a:pt x="0" y="4358640"/>
                    <a:pt x="0" y="4260596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371138" cy="446667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4. Not enough RAM?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system uses part of the drive as virtual memory, and the computer becomes much slower.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819150"/>
            <a:ext cx="1584956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&gt;PYRAMID MEMORY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53268" y="1514475"/>
            <a:ext cx="1799844" cy="1543050"/>
          </a:xfrm>
          <a:custGeom>
            <a:avLst/>
            <a:gdLst/>
            <a:ahLst/>
            <a:cxnLst/>
            <a:rect r="r" b="b" t="t" l="l"/>
            <a:pathLst>
              <a:path h="1543050" w="1799844">
                <a:moveTo>
                  <a:pt x="0" y="0"/>
                </a:moveTo>
                <a:lnTo>
                  <a:pt x="1799844" y="0"/>
                </a:lnTo>
                <a:lnTo>
                  <a:pt x="1799844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" t="0" r="-1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76690" y="1543050"/>
            <a:ext cx="4952990" cy="1485900"/>
            <a:chOff x="0" y="0"/>
            <a:chExt cx="6603987" cy="198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5" r="0" b="-1490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76690" y="1543050"/>
            <a:ext cx="4952990" cy="1485900"/>
            <a:chOff x="0" y="0"/>
            <a:chExt cx="6603987" cy="198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3987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3987">
                  <a:moveTo>
                    <a:pt x="0" y="0"/>
                  </a:moveTo>
                  <a:lnTo>
                    <a:pt x="6603987" y="0"/>
                  </a:lnTo>
                  <a:lnTo>
                    <a:pt x="6603987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CPU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Register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59694" y="1835944"/>
            <a:ext cx="2290762" cy="900112"/>
          </a:xfrm>
          <a:custGeom>
            <a:avLst/>
            <a:gdLst/>
            <a:ahLst/>
            <a:cxnLst/>
            <a:rect r="r" b="b" t="t" l="l"/>
            <a:pathLst>
              <a:path h="900112" w="2290762">
                <a:moveTo>
                  <a:pt x="0" y="0"/>
                </a:moveTo>
                <a:lnTo>
                  <a:pt x="2290762" y="0"/>
                </a:lnTo>
                <a:lnTo>
                  <a:pt x="2290762" y="900112"/>
                </a:lnTo>
                <a:lnTo>
                  <a:pt x="0" y="900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09700" y="1885950"/>
            <a:ext cx="1809750" cy="800100"/>
            <a:chOff x="0" y="0"/>
            <a:chExt cx="2413000" cy="106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63" t="0" r="-6763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09700" y="1885950"/>
            <a:ext cx="1809750" cy="800100"/>
            <a:chOff x="0" y="0"/>
            <a:chExt cx="2413000" cy="1066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29771" y="1543050"/>
            <a:ext cx="7238981" cy="1485900"/>
            <a:chOff x="0" y="0"/>
            <a:chExt cx="9651975" cy="198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52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860" r="0" b="-4486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29771" y="1543050"/>
            <a:ext cx="7238981" cy="1485900"/>
            <a:chOff x="0" y="0"/>
            <a:chExt cx="9651975" cy="1981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51974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1974">
                  <a:moveTo>
                    <a:pt x="0" y="0"/>
                  </a:moveTo>
                  <a:lnTo>
                    <a:pt x="9651974" y="0"/>
                  </a:lnTo>
                  <a:lnTo>
                    <a:pt x="9651974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26" r="0" b="-449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ACC1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0 – CPU Registers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fastest and smallest memory. Inside the CPU, it holds the data in use right now.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5162921" y="3000365"/>
            <a:ext cx="2780528" cy="1543050"/>
          </a:xfrm>
          <a:custGeom>
            <a:avLst/>
            <a:gdLst/>
            <a:ahLst/>
            <a:cxnLst/>
            <a:rect r="r" b="b" t="t" l="l"/>
            <a:pathLst>
              <a:path h="1543050" w="2780528">
                <a:moveTo>
                  <a:pt x="0" y="0"/>
                </a:moveTo>
                <a:lnTo>
                  <a:pt x="2780529" y="0"/>
                </a:lnTo>
                <a:lnTo>
                  <a:pt x="2780529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4" t="0" r="-13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076690" y="3028940"/>
            <a:ext cx="4952990" cy="1485900"/>
            <a:chOff x="0" y="0"/>
            <a:chExt cx="6603987" cy="198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04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5" r="0" b="-1490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076690" y="3028940"/>
            <a:ext cx="4952990" cy="1485900"/>
            <a:chOff x="0" y="0"/>
            <a:chExt cx="6603987" cy="198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3987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3987">
                  <a:moveTo>
                    <a:pt x="0" y="0"/>
                  </a:moveTo>
                  <a:lnTo>
                    <a:pt x="6603987" y="0"/>
                  </a:lnTo>
                  <a:lnTo>
                    <a:pt x="6603987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Cache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359694" y="3321834"/>
            <a:ext cx="2290762" cy="900112"/>
          </a:xfrm>
          <a:custGeom>
            <a:avLst/>
            <a:gdLst/>
            <a:ahLst/>
            <a:cxnLst/>
            <a:rect r="r" b="b" t="t" l="l"/>
            <a:pathLst>
              <a:path h="900112" w="2290762">
                <a:moveTo>
                  <a:pt x="0" y="0"/>
                </a:moveTo>
                <a:lnTo>
                  <a:pt x="2290762" y="0"/>
                </a:lnTo>
                <a:lnTo>
                  <a:pt x="2290762" y="900113"/>
                </a:lnTo>
                <a:lnTo>
                  <a:pt x="0" y="9001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409700" y="3371840"/>
            <a:ext cx="1809750" cy="800100"/>
            <a:chOff x="0" y="0"/>
            <a:chExt cx="2413000" cy="1066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63" t="0" r="-6763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9700" y="3371840"/>
            <a:ext cx="1809750" cy="800100"/>
            <a:chOff x="0" y="0"/>
            <a:chExt cx="2413000" cy="1066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29771" y="3028940"/>
            <a:ext cx="7238981" cy="1485900"/>
            <a:chOff x="0" y="0"/>
            <a:chExt cx="9651975" cy="1981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52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860" r="0" b="-4486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829771" y="3028940"/>
            <a:ext cx="7238981" cy="1485900"/>
            <a:chOff x="0" y="0"/>
            <a:chExt cx="9651975" cy="198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51974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1974">
                  <a:moveTo>
                    <a:pt x="0" y="0"/>
                  </a:moveTo>
                  <a:lnTo>
                    <a:pt x="9651974" y="0"/>
                  </a:lnTo>
                  <a:lnTo>
                    <a:pt x="9651974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26" r="0" b="-4492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A3E635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1 – Cache Memory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Very fast memory close to the CPU. Stores frequently used data.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4672574" y="4486265"/>
            <a:ext cx="3761222" cy="1543050"/>
          </a:xfrm>
          <a:custGeom>
            <a:avLst/>
            <a:gdLst/>
            <a:ahLst/>
            <a:cxnLst/>
            <a:rect r="r" b="b" t="t" l="l"/>
            <a:pathLst>
              <a:path h="1543050" w="3761222">
                <a:moveTo>
                  <a:pt x="0" y="0"/>
                </a:moveTo>
                <a:lnTo>
                  <a:pt x="3761223" y="0"/>
                </a:lnTo>
                <a:lnTo>
                  <a:pt x="3761223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5" t="0" r="-15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4076690" y="4514840"/>
            <a:ext cx="4952990" cy="1485900"/>
            <a:chOff x="0" y="0"/>
            <a:chExt cx="6603987" cy="1981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04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5" r="0" b="-14904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076690" y="4514840"/>
            <a:ext cx="4952990" cy="1485900"/>
            <a:chOff x="0" y="0"/>
            <a:chExt cx="6603987" cy="198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03987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3987">
                  <a:moveTo>
                    <a:pt x="0" y="0"/>
                  </a:moveTo>
                  <a:lnTo>
                    <a:pt x="6603987" y="0"/>
                  </a:lnTo>
                  <a:lnTo>
                    <a:pt x="6603987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Main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Memory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359694" y="4807734"/>
            <a:ext cx="2290762" cy="900112"/>
          </a:xfrm>
          <a:custGeom>
            <a:avLst/>
            <a:gdLst/>
            <a:ahLst/>
            <a:cxnLst/>
            <a:rect r="r" b="b" t="t" l="l"/>
            <a:pathLst>
              <a:path h="900112" w="2290762">
                <a:moveTo>
                  <a:pt x="0" y="0"/>
                </a:moveTo>
                <a:lnTo>
                  <a:pt x="2290762" y="0"/>
                </a:lnTo>
                <a:lnTo>
                  <a:pt x="2290762" y="900113"/>
                </a:lnTo>
                <a:lnTo>
                  <a:pt x="0" y="9001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409700" y="4857740"/>
            <a:ext cx="1809750" cy="800100"/>
            <a:chOff x="0" y="0"/>
            <a:chExt cx="2413000" cy="1066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63" t="0" r="-6763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09700" y="4857740"/>
            <a:ext cx="1809750" cy="800100"/>
            <a:chOff x="0" y="0"/>
            <a:chExt cx="2413000" cy="1066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06140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29771" y="4514840"/>
            <a:ext cx="7238981" cy="1485900"/>
            <a:chOff x="0" y="0"/>
            <a:chExt cx="9651975" cy="1981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52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860" r="0" b="-4486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829771" y="4514840"/>
            <a:ext cx="7238981" cy="1485900"/>
            <a:chOff x="0" y="0"/>
            <a:chExt cx="9651975" cy="1981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651974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1974">
                  <a:moveTo>
                    <a:pt x="0" y="0"/>
                  </a:moveTo>
                  <a:lnTo>
                    <a:pt x="9651974" y="0"/>
                  </a:lnTo>
                  <a:lnTo>
                    <a:pt x="9651974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26" r="0" b="-4492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2 – Main Memory (RAM)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Holds the programs and data in use right now. Faster than disks, but loses its data when turned off.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4182227" y="5972156"/>
            <a:ext cx="4741916" cy="1543050"/>
          </a:xfrm>
          <a:custGeom>
            <a:avLst/>
            <a:gdLst/>
            <a:ahLst/>
            <a:cxnLst/>
            <a:rect r="r" b="b" t="t" l="l"/>
            <a:pathLst>
              <a:path h="1543050" w="4741916">
                <a:moveTo>
                  <a:pt x="0" y="0"/>
                </a:moveTo>
                <a:lnTo>
                  <a:pt x="4741917" y="0"/>
                </a:lnTo>
                <a:lnTo>
                  <a:pt x="4741917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16" t="0" r="-16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4076690" y="6000731"/>
            <a:ext cx="4952990" cy="1485900"/>
            <a:chOff x="0" y="0"/>
            <a:chExt cx="6603987" cy="1981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04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5" r="0" b="-14904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076690" y="6000731"/>
            <a:ext cx="4952990" cy="1485900"/>
            <a:chOff x="0" y="0"/>
            <a:chExt cx="6603987" cy="1981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603987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3987">
                  <a:moveTo>
                    <a:pt x="0" y="0"/>
                  </a:moveTo>
                  <a:lnTo>
                    <a:pt x="6603987" y="0"/>
                  </a:lnTo>
                  <a:lnTo>
                    <a:pt x="6603987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Magnetic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Disk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359694" y="6293625"/>
            <a:ext cx="2290762" cy="900112"/>
          </a:xfrm>
          <a:custGeom>
            <a:avLst/>
            <a:gdLst/>
            <a:ahLst/>
            <a:cxnLst/>
            <a:rect r="r" b="b" t="t" l="l"/>
            <a:pathLst>
              <a:path h="900112" w="2290762">
                <a:moveTo>
                  <a:pt x="0" y="0"/>
                </a:moveTo>
                <a:lnTo>
                  <a:pt x="2290762" y="0"/>
                </a:lnTo>
                <a:lnTo>
                  <a:pt x="2290762" y="900112"/>
                </a:lnTo>
                <a:lnTo>
                  <a:pt x="0" y="90011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409700" y="6343631"/>
            <a:ext cx="1809750" cy="800100"/>
            <a:chOff x="0" y="0"/>
            <a:chExt cx="2413000" cy="1066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63" t="0" r="-6763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09700" y="6343631"/>
            <a:ext cx="1809750" cy="800100"/>
            <a:chOff x="0" y="0"/>
            <a:chExt cx="2413000" cy="1066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3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829771" y="6000731"/>
            <a:ext cx="7238981" cy="1485900"/>
            <a:chOff x="0" y="0"/>
            <a:chExt cx="9651975" cy="1981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652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860" r="0" b="-4486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829771" y="6000731"/>
            <a:ext cx="7238981" cy="1485900"/>
            <a:chOff x="0" y="0"/>
            <a:chExt cx="9651975" cy="1981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651974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1974">
                  <a:moveTo>
                    <a:pt x="0" y="0"/>
                  </a:moveTo>
                  <a:lnTo>
                    <a:pt x="9651974" y="0"/>
                  </a:lnTo>
                  <a:lnTo>
                    <a:pt x="9651974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26" r="0" b="-449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4ADE8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3 – Magnetic Disk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HDDs store files, programs and the operating system. More capacity than RAM, slower, keeps data when turned off.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3691880" y="7458056"/>
            <a:ext cx="5722610" cy="1543050"/>
          </a:xfrm>
          <a:custGeom>
            <a:avLst/>
            <a:gdLst/>
            <a:ahLst/>
            <a:cxnLst/>
            <a:rect r="r" b="b" t="t" l="l"/>
            <a:pathLst>
              <a:path h="1543050" w="5722610">
                <a:moveTo>
                  <a:pt x="0" y="0"/>
                </a:moveTo>
                <a:lnTo>
                  <a:pt x="5722611" y="0"/>
                </a:lnTo>
                <a:lnTo>
                  <a:pt x="5722611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6" t="0" r="-16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4076690" y="7486631"/>
            <a:ext cx="4952990" cy="1485900"/>
            <a:chOff x="0" y="0"/>
            <a:chExt cx="6603987" cy="1981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604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5" r="0" b="-14904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076690" y="7486631"/>
            <a:ext cx="4952990" cy="1485900"/>
            <a:chOff x="0" y="0"/>
            <a:chExt cx="6603987" cy="1981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603987" cy="1981200"/>
            </a:xfrm>
            <a:custGeom>
              <a:avLst/>
              <a:gdLst/>
              <a:ahLst/>
              <a:cxnLst/>
              <a:rect r="r" b="b" t="t" l="l"/>
              <a:pathLst>
                <a:path h="1981200" w="6603987">
                  <a:moveTo>
                    <a:pt x="0" y="0"/>
                  </a:moveTo>
                  <a:lnTo>
                    <a:pt x="6603987" y="0"/>
                  </a:lnTo>
                  <a:lnTo>
                    <a:pt x="6603987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6603987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Magnetic Tape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Optical Disk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1359694" y="7779525"/>
            <a:ext cx="2290762" cy="900112"/>
          </a:xfrm>
          <a:custGeom>
            <a:avLst/>
            <a:gdLst/>
            <a:ahLst/>
            <a:cxnLst/>
            <a:rect r="r" b="b" t="t" l="l"/>
            <a:pathLst>
              <a:path h="900112" w="2290762">
                <a:moveTo>
                  <a:pt x="0" y="0"/>
                </a:moveTo>
                <a:lnTo>
                  <a:pt x="2290762" y="0"/>
                </a:lnTo>
                <a:lnTo>
                  <a:pt x="2290762" y="900112"/>
                </a:lnTo>
                <a:lnTo>
                  <a:pt x="0" y="90011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1409700" y="7829531"/>
            <a:ext cx="1809750" cy="800100"/>
            <a:chOff x="0" y="0"/>
            <a:chExt cx="2413000" cy="1066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763" t="0" r="-6763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09700" y="7829531"/>
            <a:ext cx="1809750" cy="800100"/>
            <a:chOff x="0" y="0"/>
            <a:chExt cx="2413000" cy="1066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13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413000">
                  <a:moveTo>
                    <a:pt x="0" y="0"/>
                  </a:moveTo>
                  <a:lnTo>
                    <a:pt x="2413000" y="0"/>
                  </a:lnTo>
                  <a:lnTo>
                    <a:pt x="2413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723" t="0" r="-672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24130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0FDF4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4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829771" y="7486631"/>
            <a:ext cx="7238981" cy="1485900"/>
            <a:chOff x="0" y="0"/>
            <a:chExt cx="9651975" cy="1981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652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860" r="0" b="-4486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829771" y="7486631"/>
            <a:ext cx="7238981" cy="1485900"/>
            <a:chOff x="0" y="0"/>
            <a:chExt cx="9651975" cy="1981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651974" cy="1981200"/>
            </a:xfrm>
            <a:custGeom>
              <a:avLst/>
              <a:gdLst/>
              <a:ahLst/>
              <a:cxnLst/>
              <a:rect r="r" b="b" t="t" l="l"/>
              <a:pathLst>
                <a:path h="1981200" w="9651974">
                  <a:moveTo>
                    <a:pt x="0" y="0"/>
                  </a:moveTo>
                  <a:lnTo>
                    <a:pt x="9651974" y="0"/>
                  </a:lnTo>
                  <a:lnTo>
                    <a:pt x="9651974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26" r="0" b="-4492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9651975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6EFAC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Level 4 – Magnetic Tape and Optical Disk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Tapes, CDs and DVDs store or back up data. Slow to access, but keep data for a long time.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409700" y="9010631"/>
            <a:ext cx="666748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Top: faster, smaller. Bottom: slower, bigger.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71575"/>
            <a:ext cx="15849562" cy="9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&gt;CPU AND 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2200265"/>
            <a:ext cx="15849562" cy="7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The CPU talks to RAM through the memory controller, which is inside the processor. So the CPU decides which memory the computer can use.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4912" y="3685708"/>
            <a:ext cx="5078425" cy="5328571"/>
            <a:chOff x="0" y="0"/>
            <a:chExt cx="6771234" cy="71047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71259" cy="7104761"/>
            </a:xfrm>
            <a:custGeom>
              <a:avLst/>
              <a:gdLst/>
              <a:ahLst/>
              <a:cxnLst/>
              <a:rect r="r" b="b" t="t" l="l"/>
              <a:pathLst>
                <a:path h="7104761" w="6771259">
                  <a:moveTo>
                    <a:pt x="0" y="270891"/>
                  </a:moveTo>
                  <a:cubicBezTo>
                    <a:pt x="0" y="121285"/>
                    <a:pt x="121285" y="0"/>
                    <a:pt x="270891" y="0"/>
                  </a:cubicBezTo>
                  <a:lnTo>
                    <a:pt x="6500368" y="0"/>
                  </a:lnTo>
                  <a:cubicBezTo>
                    <a:pt x="6649974" y="0"/>
                    <a:pt x="6771259" y="121285"/>
                    <a:pt x="6771259" y="270891"/>
                  </a:cubicBezTo>
                  <a:lnTo>
                    <a:pt x="6771259" y="6833870"/>
                  </a:lnTo>
                  <a:cubicBezTo>
                    <a:pt x="6771259" y="6983476"/>
                    <a:pt x="6649974" y="7104761"/>
                    <a:pt x="6500368" y="7104761"/>
                  </a:cubicBezTo>
                  <a:lnTo>
                    <a:pt x="270891" y="7104761"/>
                  </a:lnTo>
                  <a:cubicBezTo>
                    <a:pt x="121285" y="7104761"/>
                    <a:pt x="0" y="6983476"/>
                    <a:pt x="0" y="6833870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771234" cy="713333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Memory type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 CPU can support DDR4, DDR5 or both, depending on the model.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04768" y="3685708"/>
            <a:ext cx="5078425" cy="5328571"/>
            <a:chOff x="0" y="0"/>
            <a:chExt cx="6771234" cy="71047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1259" cy="7104761"/>
            </a:xfrm>
            <a:custGeom>
              <a:avLst/>
              <a:gdLst/>
              <a:ahLst/>
              <a:cxnLst/>
              <a:rect r="r" b="b" t="t" l="l"/>
              <a:pathLst>
                <a:path h="7104761" w="6771259">
                  <a:moveTo>
                    <a:pt x="0" y="270891"/>
                  </a:moveTo>
                  <a:cubicBezTo>
                    <a:pt x="0" y="121285"/>
                    <a:pt x="121285" y="0"/>
                    <a:pt x="270891" y="0"/>
                  </a:cubicBezTo>
                  <a:lnTo>
                    <a:pt x="6500368" y="0"/>
                  </a:lnTo>
                  <a:cubicBezTo>
                    <a:pt x="6649974" y="0"/>
                    <a:pt x="6771259" y="121285"/>
                    <a:pt x="6771259" y="270891"/>
                  </a:cubicBezTo>
                  <a:lnTo>
                    <a:pt x="6771259" y="6833870"/>
                  </a:lnTo>
                  <a:cubicBezTo>
                    <a:pt x="6771259" y="6983476"/>
                    <a:pt x="6649974" y="7104761"/>
                    <a:pt x="6500368" y="7104761"/>
                  </a:cubicBezTo>
                  <a:lnTo>
                    <a:pt x="270891" y="7104761"/>
                  </a:lnTo>
                  <a:cubicBezTo>
                    <a:pt x="121285" y="7104761"/>
                    <a:pt x="0" y="6983476"/>
                    <a:pt x="0" y="6833870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771234" cy="713333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Speed and channels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Each CPU has a maximum memory speed and a number of channels it supports. Faster RAM works at higher speeds only with profiles like XMP or EXPO.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04624" y="3685708"/>
            <a:ext cx="5078425" cy="5328571"/>
            <a:chOff x="0" y="0"/>
            <a:chExt cx="6771234" cy="71047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71259" cy="7104761"/>
            </a:xfrm>
            <a:custGeom>
              <a:avLst/>
              <a:gdLst/>
              <a:ahLst/>
              <a:cxnLst/>
              <a:rect r="r" b="b" t="t" l="l"/>
              <a:pathLst>
                <a:path h="7104761" w="6771259">
                  <a:moveTo>
                    <a:pt x="0" y="270891"/>
                  </a:moveTo>
                  <a:cubicBezTo>
                    <a:pt x="0" y="121285"/>
                    <a:pt x="121285" y="0"/>
                    <a:pt x="270891" y="0"/>
                  </a:cubicBezTo>
                  <a:lnTo>
                    <a:pt x="6500368" y="0"/>
                  </a:lnTo>
                  <a:cubicBezTo>
                    <a:pt x="6649974" y="0"/>
                    <a:pt x="6771259" y="121285"/>
                    <a:pt x="6771259" y="270891"/>
                  </a:cubicBezTo>
                  <a:lnTo>
                    <a:pt x="6771259" y="6833870"/>
                  </a:lnTo>
                  <a:cubicBezTo>
                    <a:pt x="6771259" y="6983476"/>
                    <a:pt x="6649974" y="7104761"/>
                    <a:pt x="6500368" y="7104761"/>
                  </a:cubicBezTo>
                  <a:lnTo>
                    <a:pt x="270891" y="7104761"/>
                  </a:lnTo>
                  <a:cubicBezTo>
                    <a:pt x="121285" y="7104761"/>
                    <a:pt x="0" y="6983476"/>
                    <a:pt x="0" y="6833870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771234" cy="713333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Cache</a:t>
              </a:r>
            </a:p>
            <a:p>
              <a:pPr algn="l">
                <a:lnSpc>
                  <a:spcPts val="3695"/>
                </a:lnSpc>
              </a:pPr>
              <a:r>
                <a:rPr lang="en-US" sz="2799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CPU keeps copies of the most used RAM data in its cache (L1, L2, L3), so it does not wait for RAM every time.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71575"/>
            <a:ext cx="15849562" cy="9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&gt;MOTHERBOARD AND 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2200265"/>
            <a:ext cx="15849562" cy="7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RAM modules go in the DIMM slots of the motherboard, so both must be compatible.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4912" y="3185712"/>
            <a:ext cx="7778353" cy="2878579"/>
            <a:chOff x="0" y="0"/>
            <a:chExt cx="10371138" cy="38381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71201" cy="3838067"/>
            </a:xfrm>
            <a:custGeom>
              <a:avLst/>
              <a:gdLst/>
              <a:ahLst/>
              <a:cxnLst/>
              <a:rect r="r" b="b" t="t" l="l"/>
              <a:pathLst>
                <a:path h="3838067" w="10371201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10217658" y="0"/>
                  </a:lnTo>
                  <a:cubicBezTo>
                    <a:pt x="10302494" y="0"/>
                    <a:pt x="10371201" y="68707"/>
                    <a:pt x="10371201" y="153543"/>
                  </a:cubicBezTo>
                  <a:lnTo>
                    <a:pt x="10371201" y="3684524"/>
                  </a:lnTo>
                  <a:cubicBezTo>
                    <a:pt x="10371201" y="3769360"/>
                    <a:pt x="10302494" y="3838067"/>
                    <a:pt x="10217658" y="3838067"/>
                  </a:cubicBezTo>
                  <a:lnTo>
                    <a:pt x="153543" y="3838067"/>
                  </a:lnTo>
                  <a:cubicBezTo>
                    <a:pt x="68707" y="3838067"/>
                    <a:pt x="0" y="3769360"/>
                    <a:pt x="0" y="3684524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371138" cy="38666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DDR generation</a:t>
              </a:r>
            </a:p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 DDR4 module does not fit in a DDR5 slot because the notch is in a different position. Buy RAM of the same generation as the motherboard.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04696" y="3185712"/>
            <a:ext cx="7778353" cy="2878579"/>
            <a:chOff x="0" y="0"/>
            <a:chExt cx="10371138" cy="38381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71201" cy="3838067"/>
            </a:xfrm>
            <a:custGeom>
              <a:avLst/>
              <a:gdLst/>
              <a:ahLst/>
              <a:cxnLst/>
              <a:rect r="r" b="b" t="t" l="l"/>
              <a:pathLst>
                <a:path h="3838067" w="10371201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10217658" y="0"/>
                  </a:lnTo>
                  <a:cubicBezTo>
                    <a:pt x="10302494" y="0"/>
                    <a:pt x="10371201" y="68707"/>
                    <a:pt x="10371201" y="153543"/>
                  </a:cubicBezTo>
                  <a:lnTo>
                    <a:pt x="10371201" y="3684524"/>
                  </a:lnTo>
                  <a:cubicBezTo>
                    <a:pt x="10371201" y="3769360"/>
                    <a:pt x="10302494" y="3838067"/>
                    <a:pt x="10217658" y="3838067"/>
                  </a:cubicBezTo>
                  <a:lnTo>
                    <a:pt x="153543" y="3838067"/>
                  </a:lnTo>
                  <a:cubicBezTo>
                    <a:pt x="68707" y="3838067"/>
                    <a:pt x="0" y="3769360"/>
                    <a:pt x="0" y="3684524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371138" cy="38666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Number of slots</a:t>
              </a:r>
            </a:p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Motherboards usually have 2 or 4 slots. Each one has a maximum total capacity.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4912" y="6385712"/>
            <a:ext cx="7778353" cy="2878579"/>
            <a:chOff x="0" y="0"/>
            <a:chExt cx="10371138" cy="38381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71201" cy="3838067"/>
            </a:xfrm>
            <a:custGeom>
              <a:avLst/>
              <a:gdLst/>
              <a:ahLst/>
              <a:cxnLst/>
              <a:rect r="r" b="b" t="t" l="l"/>
              <a:pathLst>
                <a:path h="3838067" w="10371201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10217658" y="0"/>
                  </a:lnTo>
                  <a:cubicBezTo>
                    <a:pt x="10302494" y="0"/>
                    <a:pt x="10371201" y="68707"/>
                    <a:pt x="10371201" y="153543"/>
                  </a:cubicBezTo>
                  <a:lnTo>
                    <a:pt x="10371201" y="3684524"/>
                  </a:lnTo>
                  <a:cubicBezTo>
                    <a:pt x="10371201" y="3769360"/>
                    <a:pt x="10302494" y="3838067"/>
                    <a:pt x="10217658" y="3838067"/>
                  </a:cubicBezTo>
                  <a:lnTo>
                    <a:pt x="153543" y="3838067"/>
                  </a:lnTo>
                  <a:cubicBezTo>
                    <a:pt x="68707" y="3838067"/>
                    <a:pt x="0" y="3769360"/>
                    <a:pt x="0" y="3684524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371138" cy="38666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Dual channel</a:t>
              </a:r>
            </a:p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 slots work in pairs. For dual channel, install the modules in the correct slots (the manual shows which).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04696" y="6385712"/>
            <a:ext cx="7778353" cy="2878579"/>
            <a:chOff x="0" y="0"/>
            <a:chExt cx="10371138" cy="38381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71201" cy="3838067"/>
            </a:xfrm>
            <a:custGeom>
              <a:avLst/>
              <a:gdLst/>
              <a:ahLst/>
              <a:cxnLst/>
              <a:rect r="r" b="b" t="t" l="l"/>
              <a:pathLst>
                <a:path h="3838067" w="10371201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10217658" y="0"/>
                  </a:lnTo>
                  <a:cubicBezTo>
                    <a:pt x="10302494" y="0"/>
                    <a:pt x="10371201" y="68707"/>
                    <a:pt x="10371201" y="153543"/>
                  </a:cubicBezTo>
                  <a:lnTo>
                    <a:pt x="10371201" y="3684524"/>
                  </a:lnTo>
                  <a:cubicBezTo>
                    <a:pt x="10371201" y="3769360"/>
                    <a:pt x="10302494" y="3838067"/>
                    <a:pt x="10217658" y="3838067"/>
                  </a:cubicBezTo>
                  <a:lnTo>
                    <a:pt x="153543" y="3838067"/>
                  </a:lnTo>
                  <a:cubicBezTo>
                    <a:pt x="68707" y="3838067"/>
                    <a:pt x="0" y="3769360"/>
                    <a:pt x="0" y="3684524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371138" cy="386668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4487"/>
                </a:lnSpc>
              </a:pPr>
              <a:r>
                <a:rPr lang="en-US" sz="3399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Chipset and BIOS/UEFI</a:t>
              </a:r>
            </a:p>
            <a:p>
              <a:pPr algn="l">
                <a:lnSpc>
                  <a:spcPts val="3168"/>
                </a:lnSpc>
              </a:pPr>
              <a:r>
                <a:rPr lang="en-US" sz="2400">
                  <a:solidFill>
                    <a:srgbClr val="D9FBC8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They define the supported speeds. In the BIOS/UEFI you can turn on the XMP or EXPO profile of the RAM.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952625"/>
            <a:ext cx="15849562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MT/s = million transfers per second. A lower CL means a faster response, but speed also matters, so a lower number is not always faster. Dual channel uses two channels instead of one, giving more bandwidth and performance.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09675" y="2952750"/>
            <a:ext cx="5334000" cy="2857500"/>
            <a:chOff x="0" y="0"/>
            <a:chExt cx="711200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1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7112000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958457" y="0"/>
                  </a:lnTo>
                  <a:cubicBezTo>
                    <a:pt x="7043293" y="0"/>
                    <a:pt x="7112000" y="68707"/>
                    <a:pt x="7112000" y="153543"/>
                  </a:cubicBezTo>
                  <a:lnTo>
                    <a:pt x="7112000" y="3656457"/>
                  </a:lnTo>
                  <a:cubicBezTo>
                    <a:pt x="7112000" y="3741293"/>
                    <a:pt x="7043293" y="3810000"/>
                    <a:pt x="6958457" y="3810000"/>
                  </a:cubicBezTo>
                  <a:lnTo>
                    <a:pt x="153543" y="3810000"/>
                  </a:lnTo>
                  <a:cubicBezTo>
                    <a:pt x="68707" y="3810000"/>
                    <a:pt x="0" y="3741293"/>
                    <a:pt x="0" y="365645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7112000" cy="382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34175" y="2952750"/>
            <a:ext cx="5334000" cy="2857500"/>
            <a:chOff x="0" y="0"/>
            <a:chExt cx="7112000" cy="381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7112000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958457" y="0"/>
                  </a:lnTo>
                  <a:cubicBezTo>
                    <a:pt x="7043293" y="0"/>
                    <a:pt x="7112000" y="68707"/>
                    <a:pt x="7112000" y="153543"/>
                  </a:cubicBezTo>
                  <a:lnTo>
                    <a:pt x="7112000" y="3656457"/>
                  </a:lnTo>
                  <a:cubicBezTo>
                    <a:pt x="7112000" y="3741293"/>
                    <a:pt x="7043293" y="3810000"/>
                    <a:pt x="6958457" y="3810000"/>
                  </a:cubicBezTo>
                  <a:lnTo>
                    <a:pt x="153543" y="3810000"/>
                  </a:lnTo>
                  <a:cubicBezTo>
                    <a:pt x="68707" y="3810000"/>
                    <a:pt x="0" y="3741293"/>
                    <a:pt x="0" y="365645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112000" cy="382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9675" y="6096000"/>
            <a:ext cx="5334000" cy="2857500"/>
            <a:chOff x="0" y="0"/>
            <a:chExt cx="7112000" cy="381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7112000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958457" y="0"/>
                  </a:lnTo>
                  <a:cubicBezTo>
                    <a:pt x="7043293" y="0"/>
                    <a:pt x="7112000" y="68707"/>
                    <a:pt x="7112000" y="153543"/>
                  </a:cubicBezTo>
                  <a:lnTo>
                    <a:pt x="7112000" y="3656457"/>
                  </a:lnTo>
                  <a:cubicBezTo>
                    <a:pt x="7112000" y="3741293"/>
                    <a:pt x="7043293" y="3810000"/>
                    <a:pt x="6958457" y="3810000"/>
                  </a:cubicBezTo>
                  <a:lnTo>
                    <a:pt x="153543" y="3810000"/>
                  </a:lnTo>
                  <a:cubicBezTo>
                    <a:pt x="68707" y="3810000"/>
                    <a:pt x="0" y="3741293"/>
                    <a:pt x="0" y="365645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112000" cy="382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34175" y="6096000"/>
            <a:ext cx="5334000" cy="2857500"/>
            <a:chOff x="0" y="0"/>
            <a:chExt cx="71120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1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7112000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958457" y="0"/>
                  </a:lnTo>
                  <a:cubicBezTo>
                    <a:pt x="7043293" y="0"/>
                    <a:pt x="7112000" y="68707"/>
                    <a:pt x="7112000" y="153543"/>
                  </a:cubicBezTo>
                  <a:lnTo>
                    <a:pt x="7112000" y="3656457"/>
                  </a:lnTo>
                  <a:cubicBezTo>
                    <a:pt x="7112000" y="3741293"/>
                    <a:pt x="7043293" y="3810000"/>
                    <a:pt x="6958457" y="3810000"/>
                  </a:cubicBezTo>
                  <a:lnTo>
                    <a:pt x="153543" y="3810000"/>
                  </a:lnTo>
                  <a:cubicBezTo>
                    <a:pt x="68707" y="3810000"/>
                    <a:pt x="0" y="3741293"/>
                    <a:pt x="0" y="3656457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7112000" cy="382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204741" y="2952750"/>
            <a:ext cx="4054559" cy="6117879"/>
          </a:xfrm>
          <a:custGeom>
            <a:avLst/>
            <a:gdLst/>
            <a:ahLst/>
            <a:cxnLst/>
            <a:rect r="r" b="b" t="t" l="l"/>
            <a:pathLst>
              <a:path h="6117879" w="4054559">
                <a:moveTo>
                  <a:pt x="0" y="0"/>
                </a:moveTo>
                <a:lnTo>
                  <a:pt x="4054559" y="0"/>
                </a:lnTo>
                <a:lnTo>
                  <a:pt x="4054559" y="6117879"/>
                </a:lnTo>
                <a:lnTo>
                  <a:pt x="0" y="6117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19200" y="10668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&gt;DDR4 VS DDR5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6375" y="3143250"/>
            <a:ext cx="4800600" cy="47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285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DDR4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6375" y="3733800"/>
            <a:ext cx="4800600" cy="170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It is an older type of RAM. It is fast and works well for everyday tasks and games. It uses less power than older memory types.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00875" y="3143250"/>
            <a:ext cx="4800600" cy="47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285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DDR5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00875" y="3733800"/>
            <a:ext cx="4800600" cy="170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It is a newer type of RAM. It can transfer data faster and offers more memory capacity. It is more energy-efficient than DDR4.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6375" y="6286500"/>
            <a:ext cx="4800600" cy="47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285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Capacity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6375" y="6877050"/>
            <a:ext cx="4800600" cy="135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They both have different capacities like 8 GB, 16 GB, 32 GB, but DDR5 can support higher capacities per module.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00875" y="6286500"/>
            <a:ext cx="4800600" cy="47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285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Physical differences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00875" y="6877050"/>
            <a:ext cx="4800600" cy="198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0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 notch is in a different position on DDR4 and DDR5. This stops you from inserting the wrong type of memory and makes you install it in the correct direction.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71575"/>
            <a:ext cx="15849562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&gt;DDR4 VS DDR5 IN DETAIL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2200265"/>
            <a:ext cx="15849562" cy="7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More details about DDR4 vs DDR5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9675" y="3048000"/>
            <a:ext cx="5143500" cy="2667000"/>
            <a:chOff x="0" y="0"/>
            <a:chExt cx="6858000" cy="355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705600" y="0"/>
                  </a:lnTo>
                  <a:cubicBezTo>
                    <a:pt x="6789801" y="0"/>
                    <a:pt x="6858000" y="68199"/>
                    <a:pt x="6858000" y="152400"/>
                  </a:cubicBezTo>
                  <a:lnTo>
                    <a:pt x="6858000" y="3403600"/>
                  </a:lnTo>
                  <a:cubicBezTo>
                    <a:pt x="6858000" y="3487801"/>
                    <a:pt x="6789801" y="3556000"/>
                    <a:pt x="6705600" y="3556000"/>
                  </a:cubicBezTo>
                  <a:lnTo>
                    <a:pt x="152400" y="3556000"/>
                  </a:lnTo>
                  <a:cubicBezTo>
                    <a:pt x="68199" y="3556000"/>
                    <a:pt x="0" y="3487801"/>
                    <a:pt x="0" y="3403600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72250" y="3048000"/>
            <a:ext cx="5143500" cy="2667000"/>
            <a:chOff x="0" y="0"/>
            <a:chExt cx="6858000" cy="355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705600" y="0"/>
                  </a:lnTo>
                  <a:cubicBezTo>
                    <a:pt x="6789801" y="0"/>
                    <a:pt x="6858000" y="68199"/>
                    <a:pt x="6858000" y="152400"/>
                  </a:cubicBezTo>
                  <a:lnTo>
                    <a:pt x="6858000" y="3403600"/>
                  </a:lnTo>
                  <a:cubicBezTo>
                    <a:pt x="6858000" y="3487801"/>
                    <a:pt x="6789801" y="3556000"/>
                    <a:pt x="6705600" y="3556000"/>
                  </a:cubicBezTo>
                  <a:lnTo>
                    <a:pt x="152400" y="3556000"/>
                  </a:lnTo>
                  <a:cubicBezTo>
                    <a:pt x="68199" y="3556000"/>
                    <a:pt x="0" y="3487801"/>
                    <a:pt x="0" y="3403600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934825" y="3048000"/>
            <a:ext cx="5143500" cy="2667000"/>
            <a:chOff x="0" y="0"/>
            <a:chExt cx="6858000" cy="355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705600" y="0"/>
                  </a:lnTo>
                  <a:cubicBezTo>
                    <a:pt x="6789801" y="0"/>
                    <a:pt x="6858000" y="68199"/>
                    <a:pt x="6858000" y="152400"/>
                  </a:cubicBezTo>
                  <a:lnTo>
                    <a:pt x="6858000" y="3403600"/>
                  </a:lnTo>
                  <a:cubicBezTo>
                    <a:pt x="6858000" y="3487801"/>
                    <a:pt x="6789801" y="3556000"/>
                    <a:pt x="6705600" y="3556000"/>
                  </a:cubicBezTo>
                  <a:lnTo>
                    <a:pt x="152400" y="3556000"/>
                  </a:lnTo>
                  <a:cubicBezTo>
                    <a:pt x="68199" y="3556000"/>
                    <a:pt x="0" y="3487801"/>
                    <a:pt x="0" y="3403600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9675" y="5953125"/>
            <a:ext cx="8572500" cy="3333750"/>
            <a:chOff x="0" y="0"/>
            <a:chExt cx="11430000" cy="444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30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11430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1277600" y="0"/>
                  </a:lnTo>
                  <a:cubicBezTo>
                    <a:pt x="11361801" y="0"/>
                    <a:pt x="11430000" y="68199"/>
                    <a:pt x="11430000" y="152400"/>
                  </a:cubicBezTo>
                  <a:lnTo>
                    <a:pt x="11430000" y="4292600"/>
                  </a:lnTo>
                  <a:cubicBezTo>
                    <a:pt x="11430000" y="4376801"/>
                    <a:pt x="11361801" y="4445000"/>
                    <a:pt x="11277600" y="4445000"/>
                  </a:cubicBezTo>
                  <a:lnTo>
                    <a:pt x="152400" y="4445000"/>
                  </a:lnTo>
                  <a:cubicBezTo>
                    <a:pt x="68199" y="4445000"/>
                    <a:pt x="0" y="4376801"/>
                    <a:pt x="0" y="4292600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430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01250" y="5953125"/>
            <a:ext cx="7077075" cy="3333750"/>
            <a:chOff x="0" y="0"/>
            <a:chExt cx="9436100" cy="444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361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4361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283700" y="0"/>
                  </a:lnTo>
                  <a:cubicBezTo>
                    <a:pt x="9367901" y="0"/>
                    <a:pt x="9436100" y="68199"/>
                    <a:pt x="9436100" y="152400"/>
                  </a:cubicBezTo>
                  <a:lnTo>
                    <a:pt x="9436100" y="4292600"/>
                  </a:lnTo>
                  <a:cubicBezTo>
                    <a:pt x="9436100" y="4376801"/>
                    <a:pt x="9367901" y="4445000"/>
                    <a:pt x="9283700" y="4445000"/>
                  </a:cubicBezTo>
                  <a:lnTo>
                    <a:pt x="152400" y="4445000"/>
                  </a:lnTo>
                  <a:cubicBezTo>
                    <a:pt x="68199" y="4445000"/>
                    <a:pt x="0" y="4376801"/>
                    <a:pt x="0" y="4292600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4361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7325" y="3209925"/>
            <a:ext cx="4648200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700" b="true">
                <a:solidFill>
                  <a:srgbClr val="5EE33A"/>
                </a:solidFill>
                <a:latin typeface="Arimo Bold"/>
                <a:ea typeface="Arimo Bold"/>
                <a:cs typeface="Arimo Bold"/>
                <a:sym typeface="Arimo Bold"/>
              </a:rPr>
              <a:t>Capacity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" y="3781425"/>
            <a:ext cx="4648200" cy="102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9FBC8"/>
                </a:solidFill>
                <a:latin typeface="Arimo"/>
                <a:ea typeface="Arimo"/>
                <a:cs typeface="Arimo"/>
                <a:sym typeface="Arimo"/>
              </a:rPr>
              <a:t>Both come in 8, 16 and 32 GB modules, but DDR5 can reach higher capacities per module.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19900" y="3209925"/>
            <a:ext cx="4648200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700" b="true">
                <a:solidFill>
                  <a:srgbClr val="5EE33A"/>
                </a:solidFill>
                <a:latin typeface="Arimo Bold"/>
                <a:ea typeface="Arimo Bold"/>
                <a:cs typeface="Arimo Bold"/>
                <a:sym typeface="Arimo Bold"/>
              </a:rPr>
              <a:t>Frequency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19900" y="3781425"/>
            <a:ext cx="4648200" cy="13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9FBC8"/>
                </a:solidFill>
                <a:latin typeface="Arimo"/>
                <a:ea typeface="Arimo"/>
                <a:cs typeface="Arimo"/>
                <a:sym typeface="Arimo"/>
              </a:rPr>
              <a:t>Measured in MT/s (shops often write MHz). DDR4 is usually around 3200 MT/s. DDR5 is faster: 6400 MT/s or more.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82475" y="3209925"/>
            <a:ext cx="4648200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700" b="true">
                <a:solidFill>
                  <a:srgbClr val="5EE33A"/>
                </a:solidFill>
                <a:latin typeface="Arimo Bold"/>
                <a:ea typeface="Arimo Bold"/>
                <a:cs typeface="Arimo Bold"/>
                <a:sym typeface="Arimo Bold"/>
              </a:rPr>
              <a:t>Voltage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82475" y="3781425"/>
            <a:ext cx="4648200" cy="68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9FBC8"/>
                </a:solidFill>
                <a:latin typeface="Arimo"/>
                <a:ea typeface="Arimo"/>
                <a:cs typeface="Arimo"/>
                <a:sym typeface="Arimo"/>
              </a:rPr>
              <a:t>DDR4 works at 1.2 V and DDR5 at 1.1 V, so DDR5 uses less power.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7325" y="6115050"/>
            <a:ext cx="8077200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700" b="true">
                <a:solidFill>
                  <a:srgbClr val="5EE33A"/>
                </a:solidFill>
                <a:latin typeface="Arimo Bold"/>
                <a:ea typeface="Arimo Bold"/>
                <a:cs typeface="Arimo Bold"/>
                <a:sym typeface="Arimo Bold"/>
              </a:rPr>
              <a:t>Latency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7325" y="6686550"/>
            <a:ext cx="8077200" cy="13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9FBC8"/>
                </a:solidFill>
                <a:latin typeface="Arimo"/>
                <a:ea typeface="Arimo"/>
                <a:cs typeface="Arimo"/>
                <a:sym typeface="Arimo"/>
              </a:rPr>
              <a:t>How long the RAM takes to respond. DDR4: CL16 to CL22. DDR5: CL30 to CL40. DDR5 has a higher CL, but also a higher speed, so the real latency is similar (about 10 ns vs 12.7 ns). Real latency in ns = CL × 2000 / MT/s.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48900" y="6115050"/>
            <a:ext cx="6581775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700" b="true">
                <a:solidFill>
                  <a:srgbClr val="5EE33A"/>
                </a:solidFill>
                <a:latin typeface="Arimo Bold"/>
                <a:ea typeface="Arimo Bold"/>
                <a:cs typeface="Arimo Bold"/>
                <a:sym typeface="Arimo Bold"/>
              </a:rPr>
              <a:t>Single vs dual channel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48900" y="6686550"/>
            <a:ext cx="6581775" cy="13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9FBC8"/>
                </a:solidFill>
                <a:latin typeface="Arimo"/>
                <a:ea typeface="Arimo"/>
                <a:cs typeface="Arimo"/>
                <a:sym typeface="Arimo"/>
              </a:rPr>
              <a:t>Dual channel uses two channels at the same time, giving more bandwidth and performance. DDR4 has one 64-bit channel per module and DDR5 has two 32-bit subchannels.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4197" y="2194312"/>
            <a:ext cx="7822406" cy="5521700"/>
          </a:xfrm>
          <a:custGeom>
            <a:avLst/>
            <a:gdLst/>
            <a:ahLst/>
            <a:cxnLst/>
            <a:rect r="r" b="b" t="t" l="l"/>
            <a:pathLst>
              <a:path h="5521700" w="7822406">
                <a:moveTo>
                  <a:pt x="0" y="0"/>
                </a:moveTo>
                <a:lnTo>
                  <a:pt x="7822406" y="0"/>
                </a:lnTo>
                <a:lnTo>
                  <a:pt x="7822406" y="5521700"/>
                </a:lnTo>
                <a:lnTo>
                  <a:pt x="0" y="552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5709" y="2255825"/>
            <a:ext cx="7699353" cy="539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699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DIMM</a:t>
            </a:r>
          </a:p>
          <a:p>
            <a:pPr algn="l">
              <a:lnSpc>
                <a:spcPts val="2819"/>
              </a:lnSpc>
            </a:pPr>
            <a:r>
              <a:rPr lang="en-US" sz="2349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Bigger. Used in desktop computers, which have more space inside.</a:t>
            </a:r>
          </a:p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DDR4: 288 pins · DDR5: 288 pins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47553" y="2194312"/>
            <a:ext cx="7946231" cy="5521700"/>
          </a:xfrm>
          <a:custGeom>
            <a:avLst/>
            <a:gdLst/>
            <a:ahLst/>
            <a:cxnLst/>
            <a:rect r="r" b="b" t="t" l="l"/>
            <a:pathLst>
              <a:path h="5521700" w="7946231">
                <a:moveTo>
                  <a:pt x="0" y="0"/>
                </a:moveTo>
                <a:lnTo>
                  <a:pt x="7946231" y="0"/>
                </a:lnTo>
                <a:lnTo>
                  <a:pt x="7946231" y="5521700"/>
                </a:lnTo>
                <a:lnTo>
                  <a:pt x="0" y="5521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09065" y="2239156"/>
            <a:ext cx="7823178" cy="541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SO-DIMM</a:t>
            </a:r>
          </a:p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Smaller. Used in laptops, which have less space inside.</a:t>
            </a:r>
          </a:p>
          <a:p>
            <a:pPr algn="l">
              <a:lnSpc>
                <a:spcPts val="2699"/>
              </a:lnSpc>
            </a:pPr>
            <a:r>
              <a:rPr lang="en-US" sz="2249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DDR4: 260 pins · DDR5: 262 pins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499" y="3383232"/>
            <a:ext cx="9993773" cy="4996882"/>
            <a:chOff x="0" y="0"/>
            <a:chExt cx="13325030" cy="66625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25094" cy="6662547"/>
            </a:xfrm>
            <a:custGeom>
              <a:avLst/>
              <a:gdLst/>
              <a:ahLst/>
              <a:cxnLst/>
              <a:rect r="r" b="b" t="t" l="l"/>
              <a:pathLst>
                <a:path h="6662547" w="13325094">
                  <a:moveTo>
                    <a:pt x="0" y="0"/>
                  </a:moveTo>
                  <a:lnTo>
                    <a:pt x="13325094" y="0"/>
                  </a:lnTo>
                  <a:lnTo>
                    <a:pt x="13325094" y="6662547"/>
                  </a:lnTo>
                  <a:lnTo>
                    <a:pt x="0" y="6662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11314" y="2972324"/>
            <a:ext cx="5818699" cy="5818699"/>
            <a:chOff x="0" y="0"/>
            <a:chExt cx="7758265" cy="77582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58303" cy="7758303"/>
            </a:xfrm>
            <a:custGeom>
              <a:avLst/>
              <a:gdLst/>
              <a:ahLst/>
              <a:cxnLst/>
              <a:rect r="r" b="b" t="t" l="l"/>
              <a:pathLst>
                <a:path h="7758303" w="7758303">
                  <a:moveTo>
                    <a:pt x="0" y="0"/>
                  </a:moveTo>
                  <a:lnTo>
                    <a:pt x="7758303" y="0"/>
                  </a:lnTo>
                  <a:lnTo>
                    <a:pt x="7758303" y="7758303"/>
                  </a:lnTo>
                  <a:lnTo>
                    <a:pt x="0" y="7758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&gt;DIMM VS SO-DIMM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3488" y="8057245"/>
            <a:ext cx="1584956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They work the same way: both store data and help the computer run programs. The difference is their size, and performance depends on speed and other specifications.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06501" y="2307660"/>
            <a:ext cx="8472954" cy="6383093"/>
          </a:xfrm>
          <a:custGeom>
            <a:avLst/>
            <a:gdLst/>
            <a:ahLst/>
            <a:cxnLst/>
            <a:rect r="r" b="b" t="t" l="l"/>
            <a:pathLst>
              <a:path h="6383093" w="8472954">
                <a:moveTo>
                  <a:pt x="0" y="0"/>
                </a:moveTo>
                <a:lnTo>
                  <a:pt x="8472955" y="0"/>
                </a:lnTo>
                <a:lnTo>
                  <a:pt x="8472955" y="6383093"/>
                </a:lnTo>
                <a:lnTo>
                  <a:pt x="0" y="63830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8966" y="2370125"/>
            <a:ext cx="8348005" cy="625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Forgeon Cyclone PLUS V2 DDR4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Capacity: 16 GB (2×8 GB)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Frequency: 3200 MHz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Latency: CL16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149.90€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550528" y="5143500"/>
            <a:ext cx="5698912" cy="2796026"/>
            <a:chOff x="0" y="0"/>
            <a:chExt cx="7598550" cy="3728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98537" cy="3728085"/>
            </a:xfrm>
            <a:custGeom>
              <a:avLst/>
              <a:gdLst/>
              <a:ahLst/>
              <a:cxnLst/>
              <a:rect r="r" b="b" t="t" l="l"/>
              <a:pathLst>
                <a:path h="3728085" w="7598537">
                  <a:moveTo>
                    <a:pt x="0" y="0"/>
                  </a:moveTo>
                  <a:lnTo>
                    <a:pt x="7598537" y="0"/>
                  </a:lnTo>
                  <a:lnTo>
                    <a:pt x="7598537" y="3728085"/>
                  </a:lnTo>
                  <a:lnTo>
                    <a:pt x="0" y="3728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368" r="0" b="-7367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232354" y="2307688"/>
            <a:ext cx="8453257" cy="6383036"/>
          </a:xfrm>
          <a:custGeom>
            <a:avLst/>
            <a:gdLst/>
            <a:ahLst/>
            <a:cxnLst/>
            <a:rect r="r" b="b" t="t" l="l"/>
            <a:pathLst>
              <a:path h="6383036" w="8453257">
                <a:moveTo>
                  <a:pt x="0" y="0"/>
                </a:moveTo>
                <a:lnTo>
                  <a:pt x="8453256" y="0"/>
                </a:lnTo>
                <a:lnTo>
                  <a:pt x="8453256" y="6383036"/>
                </a:lnTo>
                <a:lnTo>
                  <a:pt x="0" y="6383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94790" y="2370125"/>
            <a:ext cx="8328365" cy="625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3249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G.Skill Ripjaws V DDR4</a:t>
            </a:r>
          </a:p>
          <a:p>
            <a:pPr algn="l">
              <a:lnSpc>
                <a:spcPts val="3179"/>
              </a:lnSpc>
            </a:pPr>
            <a:r>
              <a:rPr lang="en-US" sz="2649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Capacity: 32 GB (2×16 GB)</a:t>
            </a:r>
          </a:p>
          <a:p>
            <a:pPr algn="l">
              <a:lnSpc>
                <a:spcPts val="3179"/>
              </a:lnSpc>
            </a:pPr>
            <a:r>
              <a:rPr lang="en-US" sz="2649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Frequency: 3600 MHz</a:t>
            </a:r>
          </a:p>
          <a:p>
            <a:pPr algn="l">
              <a:lnSpc>
                <a:spcPts val="3179"/>
              </a:lnSpc>
            </a:pPr>
            <a:r>
              <a:rPr lang="en-US" sz="2649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Latency: CL18</a:t>
            </a:r>
          </a:p>
          <a:p>
            <a:pPr algn="l">
              <a:lnSpc>
                <a:spcPts val="4438"/>
              </a:lnSpc>
            </a:pPr>
            <a:r>
              <a:rPr lang="en-US" sz="3699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261.99€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35456" y="4810106"/>
            <a:ext cx="3916556" cy="3586143"/>
            <a:chOff x="0" y="0"/>
            <a:chExt cx="5222075" cy="47815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22113" cy="4781550"/>
            </a:xfrm>
            <a:custGeom>
              <a:avLst/>
              <a:gdLst/>
              <a:ahLst/>
              <a:cxnLst/>
              <a:rect r="r" b="b" t="t" l="l"/>
              <a:pathLst>
                <a:path h="4781550" w="5222113">
                  <a:moveTo>
                    <a:pt x="0" y="0"/>
                  </a:moveTo>
                  <a:lnTo>
                    <a:pt x="5222113" y="0"/>
                  </a:lnTo>
                  <a:lnTo>
                    <a:pt x="5222113" y="4781550"/>
                  </a:lnTo>
                  <a:lnTo>
                    <a:pt x="0" y="478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06" r="0" b="-460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&gt;RAM KITS: DDR4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17984" y="2308612"/>
            <a:ext cx="7784306" cy="6758711"/>
          </a:xfrm>
          <a:custGeom>
            <a:avLst/>
            <a:gdLst/>
            <a:ahLst/>
            <a:cxnLst/>
            <a:rect r="r" b="b" t="t" l="l"/>
            <a:pathLst>
              <a:path h="6758711" w="7784306">
                <a:moveTo>
                  <a:pt x="0" y="0"/>
                </a:moveTo>
                <a:lnTo>
                  <a:pt x="7784307" y="0"/>
                </a:lnTo>
                <a:lnTo>
                  <a:pt x="7784307" y="6758712"/>
                </a:lnTo>
                <a:lnTo>
                  <a:pt x="0" y="6758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9497" y="2370125"/>
            <a:ext cx="7661253" cy="66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Kingston FURY Beast DDR5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Capacity: 32 GB (2×16 GB)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Frequency: 5600 MHz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Latency: CL36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€629.90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233278" y="2308612"/>
            <a:ext cx="7784306" cy="6758711"/>
          </a:xfrm>
          <a:custGeom>
            <a:avLst/>
            <a:gdLst/>
            <a:ahLst/>
            <a:cxnLst/>
            <a:rect r="r" b="b" t="t" l="l"/>
            <a:pathLst>
              <a:path h="6758711" w="7784306">
                <a:moveTo>
                  <a:pt x="0" y="0"/>
                </a:moveTo>
                <a:lnTo>
                  <a:pt x="7784306" y="0"/>
                </a:lnTo>
                <a:lnTo>
                  <a:pt x="7784306" y="6758712"/>
                </a:lnTo>
                <a:lnTo>
                  <a:pt x="0" y="6758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94790" y="2370125"/>
            <a:ext cx="7661253" cy="66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Corsair Vengeance DDR5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Capacity: 32 GB (2×16 GB)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Frequency: 6000 MHz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D9FBC8"/>
                </a:solidFill>
                <a:latin typeface="Space Mono"/>
                <a:ea typeface="Space Mono"/>
                <a:cs typeface="Space Mono"/>
                <a:sym typeface="Space Mono"/>
              </a:rPr>
              <a:t>Latency: CL38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ACC15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€542.90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20844" y="4187200"/>
            <a:ext cx="6356166" cy="4485542"/>
            <a:chOff x="0" y="0"/>
            <a:chExt cx="8474888" cy="59807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37" cy="5980684"/>
            </a:xfrm>
            <a:custGeom>
              <a:avLst/>
              <a:gdLst/>
              <a:ahLst/>
              <a:cxnLst/>
              <a:rect r="r" b="b" t="t" l="l"/>
              <a:pathLst>
                <a:path h="5980684" w="8474837">
                  <a:moveTo>
                    <a:pt x="0" y="0"/>
                  </a:moveTo>
                  <a:lnTo>
                    <a:pt x="8474837" y="0"/>
                  </a:lnTo>
                  <a:lnTo>
                    <a:pt x="8474837" y="5980684"/>
                  </a:lnTo>
                  <a:lnTo>
                    <a:pt x="0" y="5980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851" r="0" b="-2085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92705" y="4318311"/>
            <a:ext cx="5849750" cy="4573353"/>
            <a:chOff x="0" y="0"/>
            <a:chExt cx="7799667" cy="60978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99705" cy="6097778"/>
            </a:xfrm>
            <a:custGeom>
              <a:avLst/>
              <a:gdLst/>
              <a:ahLst/>
              <a:cxnLst/>
              <a:rect r="r" b="b" t="t" l="l"/>
              <a:pathLst>
                <a:path h="6097778" w="7799705">
                  <a:moveTo>
                    <a:pt x="0" y="0"/>
                  </a:moveTo>
                  <a:lnTo>
                    <a:pt x="7799705" y="0"/>
                  </a:lnTo>
                  <a:lnTo>
                    <a:pt x="7799705" y="6097778"/>
                  </a:lnTo>
                  <a:lnTo>
                    <a:pt x="0" y="609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954" r="0" b="-1395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19200" y="1219200"/>
            <a:ext cx="158495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&gt;RAM KITS: DDR5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71575"/>
            <a:ext cx="15849562" cy="9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50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&gt;KAHOOT QUIZ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2200265"/>
            <a:ext cx="15849562" cy="7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ACC15"/>
                </a:solidFill>
                <a:latin typeface="Space Mono"/>
                <a:ea typeface="Space Mono"/>
                <a:cs typeface="Space Mono"/>
                <a:sym typeface="Space Mono"/>
              </a:rPr>
              <a:t>Test what you learned!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4912" y="3285715"/>
            <a:ext cx="15878137" cy="5028571"/>
            <a:chOff x="0" y="0"/>
            <a:chExt cx="21170849" cy="6704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70900" cy="6704838"/>
            </a:xfrm>
            <a:custGeom>
              <a:avLst/>
              <a:gdLst/>
              <a:ahLst/>
              <a:cxnLst/>
              <a:rect r="r" b="b" t="t" l="l"/>
              <a:pathLst>
                <a:path h="6704838" w="21170900">
                  <a:moveTo>
                    <a:pt x="0" y="268224"/>
                  </a:moveTo>
                  <a:cubicBezTo>
                    <a:pt x="0" y="120015"/>
                    <a:pt x="120015" y="0"/>
                    <a:pt x="268224" y="0"/>
                  </a:cubicBezTo>
                  <a:lnTo>
                    <a:pt x="20902676" y="0"/>
                  </a:lnTo>
                  <a:cubicBezTo>
                    <a:pt x="21050758" y="0"/>
                    <a:pt x="21170900" y="120015"/>
                    <a:pt x="21170900" y="268224"/>
                  </a:cubicBezTo>
                  <a:lnTo>
                    <a:pt x="21170900" y="6436614"/>
                  </a:lnTo>
                  <a:cubicBezTo>
                    <a:pt x="21170900" y="6584697"/>
                    <a:pt x="21050886" y="6704838"/>
                    <a:pt x="20902676" y="6704838"/>
                  </a:cubicBezTo>
                  <a:lnTo>
                    <a:pt x="268224" y="6704838"/>
                  </a:lnTo>
                  <a:cubicBezTo>
                    <a:pt x="120015" y="6704711"/>
                    <a:pt x="0" y="6584696"/>
                    <a:pt x="0" y="6436614"/>
                  </a:cubicBezTo>
                  <a:close/>
                </a:path>
              </a:pathLst>
            </a:custGeom>
            <a:solidFill>
              <a:srgbClr val="0C2810"/>
            </a:solidFill>
            <a:ln w="28575" cap="sq">
              <a:solidFill>
                <a:srgbClr val="2F7D1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170849" cy="675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752"/>
                </a:lnSpc>
              </a:pPr>
              <a:r>
                <a:rPr lang="en-US" sz="3600" b="true">
                  <a:solidFill>
                    <a:srgbClr val="5EE33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Play my quiz here:</a:t>
              </a:r>
            </a:p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ACC15"/>
                  </a:solidFill>
                  <a:latin typeface="Space Mono"/>
                  <a:ea typeface="Space Mono"/>
                  <a:cs typeface="Space Mono"/>
                  <a:sym typeface="Space Mono"/>
                </a:rPr>
                <a:t>https://create.kahoot.it/share/ram-test/7a3f937f-a1da-4a97-8288-bdef654acedf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61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69" y="364331"/>
            <a:ext cx="18320861" cy="71438"/>
            <a:chOff x="0" y="0"/>
            <a:chExt cx="24427815" cy="95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669" y="9851203"/>
            <a:ext cx="18320861" cy="71438"/>
            <a:chOff x="0" y="0"/>
            <a:chExt cx="24427815" cy="95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5250"/>
            </a:xfrm>
            <a:custGeom>
              <a:avLst/>
              <a:gdLst/>
              <a:ahLst/>
              <a:cxnLst/>
              <a:rect r="r" b="b" t="t" l="l"/>
              <a:pathLst>
                <a:path h="9525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2531" y="897731"/>
            <a:ext cx="890588" cy="109538"/>
            <a:chOff x="0" y="0"/>
            <a:chExt cx="1187450" cy="146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7450" cy="146050"/>
            </a:xfrm>
            <a:custGeom>
              <a:avLst/>
              <a:gdLst/>
              <a:ahLst/>
              <a:cxnLst/>
              <a:rect r="r" b="b" t="t" l="l"/>
              <a:pathLst>
                <a:path h="146050" w="1187450">
                  <a:moveTo>
                    <a:pt x="0" y="0"/>
                  </a:moveTo>
                  <a:lnTo>
                    <a:pt x="1187450" y="0"/>
                  </a:lnTo>
                  <a:lnTo>
                    <a:pt x="1187450" y="146050"/>
                  </a:lnTo>
                  <a:lnTo>
                    <a:pt x="0" y="1460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194843" y="9279712"/>
            <a:ext cx="890588" cy="109538"/>
            <a:chOff x="0" y="0"/>
            <a:chExt cx="1187450" cy="146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7450" cy="146050"/>
            </a:xfrm>
            <a:custGeom>
              <a:avLst/>
              <a:gdLst/>
              <a:ahLst/>
              <a:cxnLst/>
              <a:rect r="r" b="b" t="t" l="l"/>
              <a:pathLst>
                <a:path h="146050" w="1187450">
                  <a:moveTo>
                    <a:pt x="0" y="0"/>
                  </a:moveTo>
                  <a:lnTo>
                    <a:pt x="1187450" y="0"/>
                  </a:lnTo>
                  <a:lnTo>
                    <a:pt x="1187450" y="146050"/>
                  </a:lnTo>
                  <a:lnTo>
                    <a:pt x="0" y="146050"/>
                  </a:lnTo>
                  <a:close/>
                </a:path>
              </a:pathLst>
            </a:custGeom>
            <a:solidFill>
              <a:srgbClr val="5EE33A"/>
            </a:solidFill>
            <a:ln w="19050" cap="sq">
              <a:solidFill>
                <a:srgbClr val="5EE33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19200" y="3438515"/>
            <a:ext cx="10477471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0"/>
              </a:lnSpc>
            </a:pPr>
            <a:r>
              <a:rPr lang="en-US" sz="12750" b="true">
                <a:solidFill>
                  <a:srgbClr val="5EE33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&gt;THANKS!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5629265"/>
            <a:ext cx="857248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3150" b="true">
                <a:solidFill>
                  <a:srgbClr val="D9FBC8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Thank you for your attention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DAHZbFEtrpU</dc:identifier>
  <dcterms:modified xsi:type="dcterms:W3CDTF">2011-08-01T06:04:30Z</dcterms:modified>
  <cp:revision>1</cp:revision>
  <dc:title>RAM-presentation .pptx</dc:title>
</cp:coreProperties>
</file>