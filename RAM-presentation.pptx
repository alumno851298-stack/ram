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65" r:id="rId28"/>
    <p:sldId id="266" r:id="rId29"/>
    <p:sldId id="257" r:id="rId7"/>
    <p:sldId id="258" r:id="rId8"/>
    <p:sldId id="267" r:id="rId30"/>
    <p:sldId id="268" r:id="rId31"/>
    <p:sldId id="269" r:id="rId32"/>
    <p:sldId id="259" r:id="rId9"/>
    <p:sldId id="270" r:id="rId33"/>
    <p:sldId id="260" r:id="rId10"/>
    <p:sldId id="261" r:id="rId11"/>
    <p:sldId id="262" r:id="rId12"/>
    <p:sldId id="263" r:id="rId13"/>
    <p:sldId id="271" r:id="rId34"/>
    <p:sldId id="272" r:id="rId35"/>
    <p:sldId id="264" r:id="rId14"/>
  </p:sldIdLst>
  <p:sldSz cx="18288000" cy="10287000"/>
  <p:notesSz cx="6858000" cy="9144000"/>
  <p:embeddedFontLst>
    <p:embeddedFont>
      <p:font typeface="Space Mono Bold" charset="1" panose="02000809030000020004"/>
      <p:regular r:id="rId18"/>
    </p:embeddedFont>
    <p:embeddedFont>
      <p:font typeface="Space Mono" charset="1" panose="0200050904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  <Relationship Id="rId28" Type="http://schemas.openxmlformats.org/officeDocument/2006/relationships/slide" Target="slides/slide10.xml"/>
  <Relationship Id="rId29" Type="http://schemas.openxmlformats.org/officeDocument/2006/relationships/slide" Target="slides/slide11.xml"/>
  <Relationship Id="rId30" Type="http://schemas.openxmlformats.org/officeDocument/2006/relationships/slide" Target="slides/slide12.xml"/>
  <Relationship Id="rId31" Type="http://schemas.openxmlformats.org/officeDocument/2006/relationships/slide" Target="slides/slide13.xml"/>
  <Relationship Id="rId32" Type="http://schemas.openxmlformats.org/officeDocument/2006/relationships/slide" Target="slides/slide14.xml"/>
  <Relationship Id="rId33" Type="http://schemas.openxmlformats.org/officeDocument/2006/relationships/slide" Target="slides/slide15.xml"/>
  <Relationship Id="rId34" Type="http://schemas.openxmlformats.org/officeDocument/2006/relationships/slide" Target="slides/slide16.xml"/>
  <Relationship Id="rId35" Type="http://schemas.openxmlformats.org/officeDocument/2006/relationships/slide" Target="slides/slide17.xml"/>
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.jpe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09675" y="904875"/>
            <a:ext cx="876300" cy="95250"/>
            <a:chOff x="0" y="0"/>
            <a:chExt cx="1168400" cy="12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8400" cy="127000"/>
            </a:xfrm>
            <a:custGeom>
              <a:avLst/>
              <a:gdLst/>
              <a:ahLst/>
              <a:cxnLst/>
              <a:rect r="r" b="b" t="t" l="l"/>
              <a:pathLst>
                <a:path h="1270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201987" y="9286856"/>
            <a:ext cx="876300" cy="95250"/>
            <a:chOff x="0" y="0"/>
            <a:chExt cx="1168400" cy="12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8400" cy="127000"/>
            </a:xfrm>
            <a:custGeom>
              <a:avLst/>
              <a:gdLst/>
              <a:ahLst/>
              <a:cxnLst/>
              <a:rect r="r" b="b" t="t" l="l"/>
              <a:pathLst>
                <a:path h="1270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09675" y="3143240"/>
            <a:ext cx="2305040" cy="152400"/>
            <a:chOff x="0" y="0"/>
            <a:chExt cx="3073387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73400" cy="203200"/>
            </a:xfrm>
            <a:custGeom>
              <a:avLst/>
              <a:gdLst/>
              <a:ahLst/>
              <a:cxnLst/>
              <a:rect r="r" b="b" t="t" l="l"/>
              <a:pathLst>
                <a:path h="203200" w="3073400">
                  <a:moveTo>
                    <a:pt x="0" y="0"/>
                  </a:moveTo>
                  <a:lnTo>
                    <a:pt x="3073400" y="0"/>
                  </a:lnTo>
                  <a:lnTo>
                    <a:pt x="30734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ACC15"/>
            </a:solidFill>
            <a:ln w="19050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573337" y="1419225"/>
            <a:ext cx="628650" cy="628650"/>
            <a:chOff x="0" y="0"/>
            <a:chExt cx="838200" cy="838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14330F"/>
            </a:solidFill>
            <a:ln w="19050" cap="sq">
              <a:solidFill>
                <a:srgbClr val="14330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706687" y="1514475"/>
            <a:ext cx="361950" cy="438150"/>
            <a:chOff x="0" y="0"/>
            <a:chExt cx="482600" cy="584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600" cy="584200"/>
            </a:xfrm>
            <a:custGeom>
              <a:avLst/>
              <a:gdLst/>
              <a:ahLst/>
              <a:cxnLst/>
              <a:rect r="r" b="b" t="t" l="l"/>
              <a:pathLst>
                <a:path h="584200" w="482600">
                  <a:moveTo>
                    <a:pt x="189230" y="0"/>
                  </a:moveTo>
                  <a:lnTo>
                    <a:pt x="287274" y="164465"/>
                  </a:lnTo>
                  <a:lnTo>
                    <a:pt x="246888" y="183896"/>
                  </a:lnTo>
                  <a:lnTo>
                    <a:pt x="370332" y="324866"/>
                  </a:lnTo>
                  <a:lnTo>
                    <a:pt x="329946" y="348361"/>
                  </a:lnTo>
                  <a:lnTo>
                    <a:pt x="482600" y="584200"/>
                  </a:lnTo>
                  <a:lnTo>
                    <a:pt x="223647" y="403352"/>
                  </a:lnTo>
                  <a:lnTo>
                    <a:pt x="273050" y="378206"/>
                  </a:lnTo>
                  <a:lnTo>
                    <a:pt x="112141" y="262509"/>
                  </a:lnTo>
                  <a:lnTo>
                    <a:pt x="169799" y="226695"/>
                  </a:lnTo>
                  <a:lnTo>
                    <a:pt x="0" y="105156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109899" y="997321"/>
            <a:ext cx="628650" cy="628650"/>
            <a:chOff x="0" y="0"/>
            <a:chExt cx="838200" cy="8382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38200" cy="838200"/>
              <a:chOff x="0" y="0"/>
              <a:chExt cx="838200" cy="838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38200" cy="838200"/>
              </a:xfrm>
              <a:custGeom>
                <a:avLst/>
                <a:gdLst/>
                <a:ahLst/>
                <a:cxnLst/>
                <a:rect r="r" b="b" t="t" l="l"/>
                <a:pathLst>
                  <a:path h="838200" w="838200">
                    <a:moveTo>
                      <a:pt x="0" y="0"/>
                    </a:moveTo>
                    <a:lnTo>
                      <a:pt x="838200" y="0"/>
                    </a:lnTo>
                    <a:lnTo>
                      <a:pt x="838200" y="838200"/>
                    </a:lnTo>
                    <a:lnTo>
                      <a:pt x="0" y="838200"/>
                    </a:lnTo>
                    <a:close/>
                  </a:path>
                </a:pathLst>
              </a:custGeom>
              <a:solidFill>
                <a:srgbClr val="14330F"/>
              </a:solidFill>
              <a:ln w="19050" cap="sq">
                <a:solidFill>
                  <a:srgbClr val="14330F"/>
                </a:soli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52400" y="152400"/>
              <a:ext cx="533400" cy="533400"/>
              <a:chOff x="0" y="0"/>
              <a:chExt cx="533400" cy="533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0" y="266700"/>
                    </a:moveTo>
                    <a:cubicBezTo>
                      <a:pt x="0" y="119380"/>
                      <a:pt x="119380" y="0"/>
                      <a:pt x="266700" y="0"/>
                    </a:cubicBezTo>
                    <a:cubicBezTo>
                      <a:pt x="414020" y="0"/>
                      <a:pt x="533400" y="119380"/>
                      <a:pt x="533400" y="266700"/>
                    </a:cubicBezTo>
                    <a:cubicBezTo>
                      <a:pt x="533400" y="414020"/>
                      <a:pt x="414020" y="533400"/>
                      <a:pt x="266700" y="533400"/>
                    </a:cubicBezTo>
                    <a:cubicBezTo>
                      <a:pt x="119380" y="533400"/>
                      <a:pt x="0" y="414020"/>
                      <a:pt x="0" y="266700"/>
                    </a:cubicBez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  <a:ln w="57150" cap="sq">
                <a:solidFill>
                  <a:srgbClr val="5EE33A"/>
                </a:solidFill>
                <a:prstDash val="solid"/>
                <a:miter/>
              </a:ln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30200" y="330200"/>
              <a:ext cx="177800" cy="177800"/>
              <a:chOff x="0" y="0"/>
              <a:chExt cx="177800" cy="177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0" y="88900"/>
                    </a:moveTo>
                    <a:cubicBezTo>
                      <a:pt x="0" y="39751"/>
                      <a:pt x="39751" y="0"/>
                      <a:pt x="88900" y="0"/>
                    </a:cubicBezTo>
                    <a:cubicBezTo>
                      <a:pt x="138049" y="0"/>
                      <a:pt x="177800" y="39751"/>
                      <a:pt x="177800" y="88900"/>
                    </a:cubicBezTo>
                    <a:cubicBezTo>
                      <a:pt x="177800" y="138049"/>
                      <a:pt x="138049" y="177800"/>
                      <a:pt x="88900" y="177800"/>
                    </a:cubicBezTo>
                    <a:cubicBezTo>
                      <a:pt x="39751" y="177800"/>
                      <a:pt x="0" y="138049"/>
                      <a:pt x="0" y="88900"/>
                    </a:cubicBezTo>
                    <a:close/>
                  </a:path>
                </a:pathLst>
              </a:custGeom>
              <a:solidFill>
                <a:srgbClr val="5EE33A"/>
              </a:solidFill>
              <a:ln w="19050" cap="sq">
                <a:solidFill>
                  <a:srgbClr val="5EE33A"/>
                </a:solidFill>
                <a:prstDash val="solid"/>
                <a:miter/>
              </a:ln>
            </p:spPr>
          </p:sp>
        </p:grpSp>
      </p:grpSp>
      <p:grpSp>
        <p:nvGrpSpPr>
          <p:cNvPr name="Group 23" id="23"/>
          <p:cNvGrpSpPr/>
          <p:nvPr/>
        </p:nvGrpSpPr>
        <p:grpSpPr>
          <a:xfrm rot="0">
            <a:off x="16716337" y="5324465"/>
            <a:ext cx="628650" cy="628650"/>
            <a:chOff x="0" y="0"/>
            <a:chExt cx="838200" cy="838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14330F"/>
            </a:solidFill>
            <a:ln w="19050" cap="sq">
              <a:solidFill>
                <a:srgbClr val="14330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6849687" y="5457815"/>
            <a:ext cx="361950" cy="361950"/>
            <a:chOff x="0" y="0"/>
            <a:chExt cx="482600" cy="482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Freeform 27" id="27"/>
          <p:cNvSpPr/>
          <p:nvPr/>
        </p:nvSpPr>
        <p:spPr>
          <a:xfrm flipH="false" flipV="false" rot="1993593">
            <a:off x="7287509" y="3808429"/>
            <a:ext cx="9517607" cy="3836785"/>
          </a:xfrm>
          <a:custGeom>
            <a:avLst/>
            <a:gdLst/>
            <a:ahLst/>
            <a:cxnLst/>
            <a:rect r="r" b="b" t="t" l="l"/>
            <a:pathLst>
              <a:path h="3836785" w="9517607">
                <a:moveTo>
                  <a:pt x="0" y="0"/>
                </a:moveTo>
                <a:lnTo>
                  <a:pt x="9517608" y="0"/>
                </a:lnTo>
                <a:lnTo>
                  <a:pt x="9517608" y="3836786"/>
                </a:lnTo>
                <a:lnTo>
                  <a:pt x="0" y="38367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94763" y="5143500"/>
            <a:ext cx="11217969" cy="3080141"/>
            <a:chOff x="0" y="0"/>
            <a:chExt cx="14957292" cy="4106855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0"/>
              <a:ext cx="14957292" cy="3822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77"/>
                </a:lnSpc>
              </a:pPr>
              <a:r>
                <a:rPr lang="en-US" sz="18647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&gt;RAM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15154" y="3338037"/>
              <a:ext cx="13838689" cy="768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4"/>
                </a:lnSpc>
              </a:pPr>
              <a:r>
                <a:rPr lang="en-US" sz="3087">
                  <a:solidFill>
                    <a:srgbClr val="FACC15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Miriam Portales Ortiz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04912" y="2319328"/>
            <a:ext cx="7762856" cy="5362565"/>
            <a:chOff x="0" y="0"/>
            <a:chExt cx="10350475" cy="7150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50500" cy="7150100"/>
            </a:xfrm>
            <a:custGeom>
              <a:avLst/>
              <a:gdLst/>
              <a:ahLst/>
              <a:cxnLst/>
              <a:rect r="r" b="b" t="t" l="l"/>
              <a:pathLst>
                <a:path h="7150100" w="1035050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203434" y="0"/>
                  </a:lnTo>
                  <a:cubicBezTo>
                    <a:pt x="10284587" y="0"/>
                    <a:pt x="10350500" y="65786"/>
                    <a:pt x="10350500" y="147066"/>
                  </a:cubicBezTo>
                  <a:lnTo>
                    <a:pt x="10350500" y="7003034"/>
                  </a:lnTo>
                  <a:cubicBezTo>
                    <a:pt x="10350500" y="7084314"/>
                    <a:pt x="10284714" y="7150100"/>
                    <a:pt x="10203434" y="7150100"/>
                  </a:cubicBezTo>
                  <a:lnTo>
                    <a:pt x="147066" y="7150100"/>
                  </a:lnTo>
                  <a:cubicBezTo>
                    <a:pt x="65786" y="7150100"/>
                    <a:pt x="0" y="7084187"/>
                    <a:pt x="0" y="7003034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350475" cy="715961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Volatile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Loses its information when the computer turns off.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Stores what the CPU needs quickly while programs are running.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Examples: RAM, cache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20184" y="2319328"/>
            <a:ext cx="7762856" cy="5362565"/>
            <a:chOff x="0" y="0"/>
            <a:chExt cx="10350475" cy="71500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50500" cy="7150100"/>
            </a:xfrm>
            <a:custGeom>
              <a:avLst/>
              <a:gdLst/>
              <a:ahLst/>
              <a:cxnLst/>
              <a:rect r="r" b="b" t="t" l="l"/>
              <a:pathLst>
                <a:path h="7150100" w="1035050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203434" y="0"/>
                  </a:lnTo>
                  <a:cubicBezTo>
                    <a:pt x="10284587" y="0"/>
                    <a:pt x="10350500" y="65786"/>
                    <a:pt x="10350500" y="147066"/>
                  </a:cubicBezTo>
                  <a:lnTo>
                    <a:pt x="10350500" y="7003034"/>
                  </a:lnTo>
                  <a:cubicBezTo>
                    <a:pt x="10350500" y="7084314"/>
                    <a:pt x="10284714" y="7150100"/>
                    <a:pt x="10203434" y="7150100"/>
                  </a:cubicBezTo>
                  <a:lnTo>
                    <a:pt x="147066" y="7150100"/>
                  </a:lnTo>
                  <a:cubicBezTo>
                    <a:pt x="65786" y="7150100"/>
                    <a:pt x="0" y="7084187"/>
                    <a:pt x="0" y="7003034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350475" cy="715961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Non-volatile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Keeps its information when the computer turns off.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Stores data and instructions for the long term.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Examples: ROM, SSDs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19200" y="4398081"/>
            <a:ext cx="7411905" cy="2967184"/>
          </a:xfrm>
          <a:custGeom>
            <a:avLst/>
            <a:gdLst/>
            <a:ahLst/>
            <a:cxnLst/>
            <a:rect r="r" b="b" t="t" l="l"/>
            <a:pathLst>
              <a:path h="2967184" w="7411905">
                <a:moveTo>
                  <a:pt x="0" y="0"/>
                </a:moveTo>
                <a:lnTo>
                  <a:pt x="7411905" y="0"/>
                </a:lnTo>
                <a:lnTo>
                  <a:pt x="7411905" y="2967184"/>
                </a:lnTo>
                <a:lnTo>
                  <a:pt x="0" y="2967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98782" y="4964384"/>
            <a:ext cx="3313698" cy="2207848"/>
          </a:xfrm>
          <a:custGeom>
            <a:avLst/>
            <a:gdLst/>
            <a:ahLst/>
            <a:cxnLst/>
            <a:rect r="r" b="b" t="t" l="l"/>
            <a:pathLst>
              <a:path h="2207848" w="3313698">
                <a:moveTo>
                  <a:pt x="0" y="0"/>
                </a:moveTo>
                <a:lnTo>
                  <a:pt x="3313699" y="0"/>
                </a:lnTo>
                <a:lnTo>
                  <a:pt x="3313699" y="2207848"/>
                </a:lnTo>
                <a:lnTo>
                  <a:pt x="0" y="2207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17928" y="4566227"/>
            <a:ext cx="4328495" cy="2864445"/>
          </a:xfrm>
          <a:custGeom>
            <a:avLst/>
            <a:gdLst/>
            <a:ahLst/>
            <a:cxnLst/>
            <a:rect r="r" b="b" t="t" l="l"/>
            <a:pathLst>
              <a:path h="2864445" w="4328495">
                <a:moveTo>
                  <a:pt x="0" y="0"/>
                </a:moveTo>
                <a:lnTo>
                  <a:pt x="4328494" y="0"/>
                </a:lnTo>
                <a:lnTo>
                  <a:pt x="4328494" y="2864445"/>
                </a:lnTo>
                <a:lnTo>
                  <a:pt x="0" y="2864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19200" y="12192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&gt;VOLATILE VS NON-VOLATILE MEMORY</a:t>
            </a:r>
          </a:p>
        </p:txBody>
      </p:sp>
    </p:spTree>
  </p:cSld>
  <p:clrMapOvr>
    <a:masterClrMapping/>
  </p:clrMapOvr>
  <p:transition spd="fast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04912" y="2938453"/>
            <a:ext cx="5108562" cy="5604618"/>
            <a:chOff x="0" y="0"/>
            <a:chExt cx="6811416" cy="74728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11390" cy="7472837"/>
            </a:xfrm>
            <a:custGeom>
              <a:avLst/>
              <a:gdLst/>
              <a:ahLst/>
              <a:cxnLst/>
              <a:rect r="r" b="b" t="t" l="l"/>
              <a:pathLst>
                <a:path h="7472837" w="6811390">
                  <a:moveTo>
                    <a:pt x="0" y="226527"/>
                  </a:moveTo>
                  <a:cubicBezTo>
                    <a:pt x="0" y="101459"/>
                    <a:pt x="66040" y="0"/>
                    <a:pt x="147447" y="0"/>
                  </a:cubicBezTo>
                  <a:lnTo>
                    <a:pt x="6663944" y="0"/>
                  </a:lnTo>
                  <a:cubicBezTo>
                    <a:pt x="6745350" y="0"/>
                    <a:pt x="6811390" y="101459"/>
                    <a:pt x="6811390" y="226527"/>
                  </a:cubicBezTo>
                  <a:lnTo>
                    <a:pt x="6811390" y="7246317"/>
                  </a:lnTo>
                  <a:cubicBezTo>
                    <a:pt x="6811390" y="7371385"/>
                    <a:pt x="6745350" y="7472837"/>
                    <a:pt x="6663944" y="7472837"/>
                  </a:cubicBezTo>
                  <a:lnTo>
                    <a:pt x="147447" y="7472837"/>
                  </a:lnTo>
                  <a:cubicBezTo>
                    <a:pt x="66040" y="7472837"/>
                    <a:pt x="0" y="7371384"/>
                    <a:pt x="0" y="7246317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6811416" cy="746329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RAM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Volatile. Stores data and instructions for immediate execution. More capacity helps multitasking.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89700" y="2938453"/>
            <a:ext cx="5108562" cy="5604618"/>
            <a:chOff x="0" y="0"/>
            <a:chExt cx="6811416" cy="7472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11390" cy="7472837"/>
            </a:xfrm>
            <a:custGeom>
              <a:avLst/>
              <a:gdLst/>
              <a:ahLst/>
              <a:cxnLst/>
              <a:rect r="r" b="b" t="t" l="l"/>
              <a:pathLst>
                <a:path h="7472837" w="6811390">
                  <a:moveTo>
                    <a:pt x="0" y="226527"/>
                  </a:moveTo>
                  <a:cubicBezTo>
                    <a:pt x="0" y="101459"/>
                    <a:pt x="66040" y="0"/>
                    <a:pt x="147447" y="0"/>
                  </a:cubicBezTo>
                  <a:lnTo>
                    <a:pt x="6663944" y="0"/>
                  </a:lnTo>
                  <a:cubicBezTo>
                    <a:pt x="6745350" y="0"/>
                    <a:pt x="6811390" y="101459"/>
                    <a:pt x="6811390" y="226527"/>
                  </a:cubicBezTo>
                  <a:lnTo>
                    <a:pt x="6811390" y="7246317"/>
                  </a:lnTo>
                  <a:cubicBezTo>
                    <a:pt x="6811390" y="7371385"/>
                    <a:pt x="6745350" y="7472837"/>
                    <a:pt x="6663944" y="7472837"/>
                  </a:cubicBezTo>
                  <a:lnTo>
                    <a:pt x="147447" y="7472837"/>
                  </a:lnTo>
                  <a:cubicBezTo>
                    <a:pt x="66040" y="7472837"/>
                    <a:pt x="0" y="7371384"/>
                    <a:pt x="0" y="7246317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6811416" cy="746329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Cache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Volatile. Keeps copies of frequently used RAM data so the CPU works faster. Faster than RAM, but smaller.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74478" y="2938453"/>
            <a:ext cx="5108562" cy="5604618"/>
            <a:chOff x="0" y="0"/>
            <a:chExt cx="6811416" cy="7472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11390" cy="7472837"/>
            </a:xfrm>
            <a:custGeom>
              <a:avLst/>
              <a:gdLst/>
              <a:ahLst/>
              <a:cxnLst/>
              <a:rect r="r" b="b" t="t" l="l"/>
              <a:pathLst>
                <a:path h="7472837" w="6811390">
                  <a:moveTo>
                    <a:pt x="0" y="226527"/>
                  </a:moveTo>
                  <a:cubicBezTo>
                    <a:pt x="0" y="101459"/>
                    <a:pt x="66040" y="0"/>
                    <a:pt x="147447" y="0"/>
                  </a:cubicBezTo>
                  <a:lnTo>
                    <a:pt x="6663944" y="0"/>
                  </a:lnTo>
                  <a:cubicBezTo>
                    <a:pt x="6745350" y="0"/>
                    <a:pt x="6811390" y="101459"/>
                    <a:pt x="6811390" y="226527"/>
                  </a:cubicBezTo>
                  <a:lnTo>
                    <a:pt x="6811390" y="7246317"/>
                  </a:lnTo>
                  <a:cubicBezTo>
                    <a:pt x="6811390" y="7371385"/>
                    <a:pt x="6745350" y="7472837"/>
                    <a:pt x="6663944" y="7472837"/>
                  </a:cubicBezTo>
                  <a:lnTo>
                    <a:pt x="147447" y="7472837"/>
                  </a:lnTo>
                  <a:cubicBezTo>
                    <a:pt x="66040" y="7472837"/>
                    <a:pt x="0" y="7371384"/>
                    <a:pt x="0" y="7246317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6811416" cy="746329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ROM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Non-volatile. Its content is not easily changed by the user. Stores start-up instructions and basic hardware settings.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612455" y="5629596"/>
            <a:ext cx="3968168" cy="2360188"/>
          </a:xfrm>
          <a:custGeom>
            <a:avLst/>
            <a:gdLst/>
            <a:ahLst/>
            <a:cxnLst/>
            <a:rect r="r" b="b" t="t" l="l"/>
            <a:pathLst>
              <a:path h="2360188" w="3968168">
                <a:moveTo>
                  <a:pt x="0" y="0"/>
                </a:moveTo>
                <a:lnTo>
                  <a:pt x="3968169" y="0"/>
                </a:lnTo>
                <a:lnTo>
                  <a:pt x="3968169" y="2360188"/>
                </a:lnTo>
                <a:lnTo>
                  <a:pt x="0" y="2360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3295" y="4613791"/>
            <a:ext cx="4391798" cy="4391798"/>
          </a:xfrm>
          <a:custGeom>
            <a:avLst/>
            <a:gdLst/>
            <a:ahLst/>
            <a:cxnLst/>
            <a:rect r="r" b="b" t="t" l="l"/>
            <a:pathLst>
              <a:path h="4391798" w="4391798">
                <a:moveTo>
                  <a:pt x="0" y="0"/>
                </a:moveTo>
                <a:lnTo>
                  <a:pt x="4391798" y="0"/>
                </a:lnTo>
                <a:lnTo>
                  <a:pt x="4391798" y="4391798"/>
                </a:lnTo>
                <a:lnTo>
                  <a:pt x="0" y="4391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855331" y="4876901"/>
            <a:ext cx="4578990" cy="3434242"/>
          </a:xfrm>
          <a:custGeom>
            <a:avLst/>
            <a:gdLst/>
            <a:ahLst/>
            <a:cxnLst/>
            <a:rect r="r" b="b" t="t" l="l"/>
            <a:pathLst>
              <a:path h="3434242" w="4578990">
                <a:moveTo>
                  <a:pt x="0" y="0"/>
                </a:moveTo>
                <a:lnTo>
                  <a:pt x="4578990" y="0"/>
                </a:lnTo>
                <a:lnTo>
                  <a:pt x="4578990" y="3434242"/>
                </a:lnTo>
                <a:lnTo>
                  <a:pt x="0" y="3434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19200" y="12192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&gt;RAM, CACHE AND ROM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9200" y="2219315"/>
            <a:ext cx="1584956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They differ in volatility, speed and function.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19197" y="1990720"/>
          <a:ext cx="15792450" cy="3200400"/>
        </p:xfrm>
        <a:graphic>
          <a:graphicData uri="http://schemas.openxmlformats.org/drawingml/2006/table">
            <a:tbl>
              <a:tblPr/>
              <a:tblGrid>
                <a:gridCol w="1922232"/>
                <a:gridCol w="6935109"/>
                <a:gridCol w="6935109"/>
              </a:tblGrid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6140A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DDR4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3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6140A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DDR5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9FBC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9FBC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Older RAM, fast for everyday tasks and games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9FBC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Newer RAM, faster transfers and more efficient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9FBC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Capacity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9FBC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8, 16, 32 GB modules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9FBC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Same sizes, higher capacity per module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9FBC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Frequency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9FBC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Usually around 3200 MT/s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9FBC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Up to 6400 MT/s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9FBC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Latency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9FBC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CL16 to CL22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9FBC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CL30 to CL40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9FBC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Channels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9FBC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One 64-bit channel per module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9FBC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Two 32-bit subchannels per module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F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6488401" y="6432765"/>
            <a:ext cx="8605333" cy="3655166"/>
          </a:xfrm>
          <a:custGeom>
            <a:avLst/>
            <a:gdLst/>
            <a:ahLst/>
            <a:cxnLst/>
            <a:rect r="r" b="b" t="t" l="l"/>
            <a:pathLst>
              <a:path h="3655166" w="8605333">
                <a:moveTo>
                  <a:pt x="0" y="0"/>
                </a:moveTo>
                <a:lnTo>
                  <a:pt x="8605333" y="0"/>
                </a:lnTo>
                <a:lnTo>
                  <a:pt x="8605333" y="3655165"/>
                </a:lnTo>
                <a:lnTo>
                  <a:pt x="0" y="36551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497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9200" y="10668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&gt;DDR4 VS DDR5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5714981"/>
            <a:ext cx="15849562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MT/s = million transfers per second. A lower CL means a faster response, but speed also matters, so a lower number is not always faster. Dual channel uses two channels instead of one, giving more bandwidth and performance.</a:t>
            </a:r>
          </a:p>
        </p:txBody>
      </p:sp>
    </p:spTree>
  </p:cSld>
  <p:clrMapOvr>
    <a:masterClrMapping/>
  </p:clrMapOvr>
  <p:transition spd="fast">
    <p:cover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04912" y="2205028"/>
            <a:ext cx="7800956" cy="5500256"/>
            <a:chOff x="0" y="0"/>
            <a:chExt cx="10401275" cy="73336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01300" cy="7333687"/>
            </a:xfrm>
            <a:custGeom>
              <a:avLst/>
              <a:gdLst/>
              <a:ahLst/>
              <a:cxnLst/>
              <a:rect r="r" b="b" t="t" l="l"/>
              <a:pathLst>
                <a:path h="7333687" w="10401300">
                  <a:moveTo>
                    <a:pt x="0" y="272495"/>
                  </a:moveTo>
                  <a:cubicBezTo>
                    <a:pt x="0" y="122072"/>
                    <a:pt x="66167" y="0"/>
                    <a:pt x="147701" y="0"/>
                  </a:cubicBezTo>
                  <a:lnTo>
                    <a:pt x="10253599" y="0"/>
                  </a:lnTo>
                  <a:cubicBezTo>
                    <a:pt x="10335133" y="0"/>
                    <a:pt x="10401300" y="122072"/>
                    <a:pt x="10401300" y="272495"/>
                  </a:cubicBezTo>
                  <a:lnTo>
                    <a:pt x="10401300" y="7061203"/>
                  </a:lnTo>
                  <a:cubicBezTo>
                    <a:pt x="10401300" y="7211626"/>
                    <a:pt x="10335133" y="7333687"/>
                    <a:pt x="10253599" y="7333687"/>
                  </a:cubicBezTo>
                  <a:lnTo>
                    <a:pt x="147701" y="7333687"/>
                  </a:lnTo>
                  <a:cubicBezTo>
                    <a:pt x="66167" y="7333687"/>
                    <a:pt x="0" y="7211626"/>
                    <a:pt x="0" y="7061203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401275" cy="73336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DIMM</a:t>
              </a:r>
            </a:p>
            <a:p>
              <a:pPr algn="l">
                <a:lnSpc>
                  <a:spcPts val="2819"/>
                </a:lnSpc>
              </a:pPr>
              <a:r>
                <a:rPr lang="en-US" sz="234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Bigger. Used in desktop computers, which have more space inside.</a:t>
              </a:r>
            </a:p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DDR4: 288 pins · DDR5: 288 pins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58268" y="2205028"/>
            <a:ext cx="7924781" cy="5500256"/>
            <a:chOff x="0" y="0"/>
            <a:chExt cx="10566375" cy="73336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66400" cy="7333687"/>
            </a:xfrm>
            <a:custGeom>
              <a:avLst/>
              <a:gdLst/>
              <a:ahLst/>
              <a:cxnLst/>
              <a:rect r="r" b="b" t="t" l="l"/>
              <a:pathLst>
                <a:path h="7333687" w="10566400">
                  <a:moveTo>
                    <a:pt x="0" y="272495"/>
                  </a:moveTo>
                  <a:cubicBezTo>
                    <a:pt x="0" y="122072"/>
                    <a:pt x="67217" y="0"/>
                    <a:pt x="150045" y="0"/>
                  </a:cubicBezTo>
                  <a:lnTo>
                    <a:pt x="10416355" y="0"/>
                  </a:lnTo>
                  <a:cubicBezTo>
                    <a:pt x="10499183" y="0"/>
                    <a:pt x="10566400" y="122072"/>
                    <a:pt x="10566400" y="272495"/>
                  </a:cubicBezTo>
                  <a:lnTo>
                    <a:pt x="10566400" y="7061203"/>
                  </a:lnTo>
                  <a:cubicBezTo>
                    <a:pt x="10566400" y="7211626"/>
                    <a:pt x="10499183" y="7333687"/>
                    <a:pt x="10416355" y="7333687"/>
                  </a:cubicBezTo>
                  <a:lnTo>
                    <a:pt x="150045" y="7333687"/>
                  </a:lnTo>
                  <a:cubicBezTo>
                    <a:pt x="67217" y="7333687"/>
                    <a:pt x="0" y="7211626"/>
                    <a:pt x="0" y="7061203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66375" cy="73432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SO-DIMM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Smaller. Used in laptops, which have less space inside.</a:t>
              </a:r>
            </a:p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DDR4: 260 pins · DDR5: 262 pins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8504" y="3383230"/>
            <a:ext cx="9993772" cy="4996886"/>
          </a:xfrm>
          <a:custGeom>
            <a:avLst/>
            <a:gdLst/>
            <a:ahLst/>
            <a:cxnLst/>
            <a:rect r="r" b="b" t="t" l="l"/>
            <a:pathLst>
              <a:path h="4996886" w="9993772">
                <a:moveTo>
                  <a:pt x="0" y="0"/>
                </a:moveTo>
                <a:lnTo>
                  <a:pt x="9993773" y="0"/>
                </a:lnTo>
                <a:lnTo>
                  <a:pt x="9993773" y="4996886"/>
                </a:lnTo>
                <a:lnTo>
                  <a:pt x="0" y="4996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11312" y="2972326"/>
            <a:ext cx="5818694" cy="5818694"/>
          </a:xfrm>
          <a:custGeom>
            <a:avLst/>
            <a:gdLst/>
            <a:ahLst/>
            <a:cxnLst/>
            <a:rect r="r" b="b" t="t" l="l"/>
            <a:pathLst>
              <a:path h="5818694" w="5818694">
                <a:moveTo>
                  <a:pt x="0" y="0"/>
                </a:moveTo>
                <a:lnTo>
                  <a:pt x="5818694" y="0"/>
                </a:lnTo>
                <a:lnTo>
                  <a:pt x="5818694" y="5818694"/>
                </a:lnTo>
                <a:lnTo>
                  <a:pt x="0" y="5818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19200" y="12192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&gt;DIMM VS SO-DIMM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3488" y="8057245"/>
            <a:ext cx="1584956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They work the same way: both store data and help the computer run programs. The difference is their size, and performance depends on speed and other specifications.</a:t>
            </a:r>
          </a:p>
        </p:txBody>
      </p:sp>
    </p:spTree>
  </p:cSld>
  <p:clrMapOvr>
    <a:masterClrMapping/>
  </p:clrMapOvr>
  <p:transition spd="fast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18164" y="2319328"/>
            <a:ext cx="8449604" cy="6359872"/>
            <a:chOff x="0" y="0"/>
            <a:chExt cx="10350475" cy="77906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50500" cy="7790491"/>
            </a:xfrm>
            <a:custGeom>
              <a:avLst/>
              <a:gdLst/>
              <a:ahLst/>
              <a:cxnLst/>
              <a:rect r="r" b="b" t="t" l="l"/>
              <a:pathLst>
                <a:path h="7790491" w="10350500">
                  <a:moveTo>
                    <a:pt x="0" y="172496"/>
                  </a:moveTo>
                  <a:cubicBezTo>
                    <a:pt x="0" y="77311"/>
                    <a:pt x="65913" y="0"/>
                    <a:pt x="147066" y="0"/>
                  </a:cubicBezTo>
                  <a:lnTo>
                    <a:pt x="10203307" y="0"/>
                  </a:lnTo>
                  <a:cubicBezTo>
                    <a:pt x="10284587" y="0"/>
                    <a:pt x="10350500" y="77311"/>
                    <a:pt x="10350500" y="172496"/>
                  </a:cubicBezTo>
                  <a:lnTo>
                    <a:pt x="10350500" y="7617994"/>
                  </a:lnTo>
                  <a:cubicBezTo>
                    <a:pt x="10350500" y="7713328"/>
                    <a:pt x="10284587" y="7790490"/>
                    <a:pt x="10203434" y="7790490"/>
                  </a:cubicBezTo>
                  <a:lnTo>
                    <a:pt x="147066" y="7790490"/>
                  </a:lnTo>
                  <a:cubicBezTo>
                    <a:pt x="65913" y="7790637"/>
                    <a:pt x="0" y="7713328"/>
                    <a:pt x="0" y="7617994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350475" cy="779062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Forgeon Cyclone PLUS V2 DDR4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Capacity: 16 GB (2×8 GB)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Frequency: 3200 MHz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Latency: CL16</a:t>
              </a:r>
            </a:p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149.90€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50527" y="5143500"/>
            <a:ext cx="5698894" cy="2796029"/>
            <a:chOff x="0" y="0"/>
            <a:chExt cx="4063987" cy="1993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0" cy="1993900"/>
            </a:xfrm>
            <a:custGeom>
              <a:avLst/>
              <a:gdLst/>
              <a:ahLst/>
              <a:cxnLst/>
              <a:rect r="r" b="b" t="t" l="l"/>
              <a:pathLst>
                <a:path h="19939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993900"/>
                  </a:lnTo>
                  <a:lnTo>
                    <a:pt x="0" y="199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324" r="0" b="-732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43993" y="2319328"/>
            <a:ext cx="8429964" cy="6359872"/>
            <a:chOff x="0" y="0"/>
            <a:chExt cx="10350475" cy="78087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50500" cy="7808641"/>
            </a:xfrm>
            <a:custGeom>
              <a:avLst/>
              <a:gdLst/>
              <a:ahLst/>
              <a:cxnLst/>
              <a:rect r="r" b="b" t="t" l="l"/>
              <a:pathLst>
                <a:path h="7808641" w="10350500">
                  <a:moveTo>
                    <a:pt x="0" y="172898"/>
                  </a:moveTo>
                  <a:cubicBezTo>
                    <a:pt x="0" y="77491"/>
                    <a:pt x="65913" y="0"/>
                    <a:pt x="147066" y="0"/>
                  </a:cubicBezTo>
                  <a:lnTo>
                    <a:pt x="10203307" y="0"/>
                  </a:lnTo>
                  <a:cubicBezTo>
                    <a:pt x="10284587" y="0"/>
                    <a:pt x="10350500" y="77491"/>
                    <a:pt x="10350500" y="172898"/>
                  </a:cubicBezTo>
                  <a:lnTo>
                    <a:pt x="10350500" y="7635742"/>
                  </a:lnTo>
                  <a:cubicBezTo>
                    <a:pt x="10350500" y="7731299"/>
                    <a:pt x="10284587" y="7808640"/>
                    <a:pt x="10203434" y="7808640"/>
                  </a:cubicBezTo>
                  <a:lnTo>
                    <a:pt x="147066" y="7808640"/>
                  </a:lnTo>
                  <a:cubicBezTo>
                    <a:pt x="65913" y="7808788"/>
                    <a:pt x="0" y="7731299"/>
                    <a:pt x="0" y="7635742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0350475" cy="780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899"/>
                </a:lnSpc>
              </a:pPr>
              <a:r>
                <a:rPr lang="en-US" sz="324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G.Skill Ripjaws V DDR4</a:t>
              </a: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Capacity: 32 GB (2×16 GB)</a:t>
              </a: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Frequency: 3600 MHz</a:t>
              </a: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Latency: CL18</a:t>
              </a:r>
            </a:p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261.99€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35456" y="4810109"/>
            <a:ext cx="3916539" cy="3586141"/>
            <a:chOff x="0" y="0"/>
            <a:chExt cx="4063987" cy="3721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0" cy="3721150"/>
            </a:xfrm>
            <a:custGeom>
              <a:avLst/>
              <a:gdLst/>
              <a:ahLst/>
              <a:cxnLst/>
              <a:rect r="r" b="b" t="t" l="l"/>
              <a:pathLst>
                <a:path h="372115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3721150"/>
                  </a:lnTo>
                  <a:lnTo>
                    <a:pt x="0" y="3721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606" r="0" b="-460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19200" y="12192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&gt;RAM KITS: DDR4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319328"/>
            <a:ext cx="7762856" cy="6737395"/>
            <a:chOff x="0" y="0"/>
            <a:chExt cx="10350475" cy="89831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50500" cy="8983039"/>
            </a:xfrm>
            <a:custGeom>
              <a:avLst/>
              <a:gdLst/>
              <a:ahLst/>
              <a:cxnLst/>
              <a:rect r="r" b="b" t="t" l="l"/>
              <a:pathLst>
                <a:path h="8983039" w="10350500">
                  <a:moveTo>
                    <a:pt x="0" y="198902"/>
                  </a:moveTo>
                  <a:cubicBezTo>
                    <a:pt x="0" y="89145"/>
                    <a:pt x="65913" y="0"/>
                    <a:pt x="147066" y="0"/>
                  </a:cubicBezTo>
                  <a:lnTo>
                    <a:pt x="10203307" y="0"/>
                  </a:lnTo>
                  <a:cubicBezTo>
                    <a:pt x="10284587" y="0"/>
                    <a:pt x="10350500" y="89145"/>
                    <a:pt x="10350500" y="198902"/>
                  </a:cubicBezTo>
                  <a:lnTo>
                    <a:pt x="10350500" y="8784137"/>
                  </a:lnTo>
                  <a:cubicBezTo>
                    <a:pt x="10350500" y="8894066"/>
                    <a:pt x="10284587" y="8983039"/>
                    <a:pt x="10203434" y="8983039"/>
                  </a:cubicBezTo>
                  <a:lnTo>
                    <a:pt x="147066" y="8983039"/>
                  </a:lnTo>
                  <a:cubicBezTo>
                    <a:pt x="65913" y="8983207"/>
                    <a:pt x="0" y="8894066"/>
                    <a:pt x="0" y="8784137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350475" cy="898319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Kingston FURY Beast DDR5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Capacity: 32 GB (2×16 GB)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Frequency: 5600 MHz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Latency: CL36</a:t>
              </a:r>
            </a:p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€629.90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43993" y="2319328"/>
            <a:ext cx="7762856" cy="6737395"/>
            <a:chOff x="0" y="0"/>
            <a:chExt cx="10350475" cy="89831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50500" cy="8983039"/>
            </a:xfrm>
            <a:custGeom>
              <a:avLst/>
              <a:gdLst/>
              <a:ahLst/>
              <a:cxnLst/>
              <a:rect r="r" b="b" t="t" l="l"/>
              <a:pathLst>
                <a:path h="8983039" w="10350500">
                  <a:moveTo>
                    <a:pt x="0" y="198902"/>
                  </a:moveTo>
                  <a:cubicBezTo>
                    <a:pt x="0" y="89145"/>
                    <a:pt x="65913" y="0"/>
                    <a:pt x="147066" y="0"/>
                  </a:cubicBezTo>
                  <a:lnTo>
                    <a:pt x="10203307" y="0"/>
                  </a:lnTo>
                  <a:cubicBezTo>
                    <a:pt x="10284587" y="0"/>
                    <a:pt x="10350500" y="89145"/>
                    <a:pt x="10350500" y="198902"/>
                  </a:cubicBezTo>
                  <a:lnTo>
                    <a:pt x="10350500" y="8784137"/>
                  </a:lnTo>
                  <a:cubicBezTo>
                    <a:pt x="10350500" y="8894066"/>
                    <a:pt x="10284587" y="8983039"/>
                    <a:pt x="10203434" y="8983039"/>
                  </a:cubicBezTo>
                  <a:lnTo>
                    <a:pt x="147066" y="8983039"/>
                  </a:lnTo>
                  <a:cubicBezTo>
                    <a:pt x="65913" y="8983207"/>
                    <a:pt x="0" y="8894066"/>
                    <a:pt x="0" y="8784137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0350475" cy="898319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Corsair Vengeance DDR5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Capacity: 32 GB (2×16 GB)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Frequency: 6000 MHz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Latency: CL38</a:t>
              </a:r>
            </a:p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€542.90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20846" y="4187200"/>
            <a:ext cx="6356146" cy="4485541"/>
            <a:chOff x="0" y="0"/>
            <a:chExt cx="4063987" cy="28679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0" cy="2867961"/>
            </a:xfrm>
            <a:custGeom>
              <a:avLst/>
              <a:gdLst/>
              <a:ahLst/>
              <a:cxnLst/>
              <a:rect r="r" b="b" t="t" l="l"/>
              <a:pathLst>
                <a:path h="2867961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867961"/>
                  </a:lnTo>
                  <a:lnTo>
                    <a:pt x="0" y="2867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851" r="0" b="-2085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92703" y="4318309"/>
            <a:ext cx="5849735" cy="4573351"/>
            <a:chOff x="0" y="0"/>
            <a:chExt cx="4063987" cy="31772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0" cy="3177245"/>
            </a:xfrm>
            <a:custGeom>
              <a:avLst/>
              <a:gdLst/>
              <a:ahLst/>
              <a:cxnLst/>
              <a:rect r="r" b="b" t="t" l="l"/>
              <a:pathLst>
                <a:path h="3177245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3177245"/>
                  </a:lnTo>
                  <a:lnTo>
                    <a:pt x="0" y="3177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954" r="0" b="-13954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19200" y="12192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&gt;RAM KITS: DDR5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809625"/>
            <a:ext cx="15849562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&gt;PYRAMID MEMORY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653268" y="1514475"/>
            <a:ext cx="1799844" cy="1543050"/>
          </a:xfrm>
          <a:custGeom>
            <a:avLst/>
            <a:gdLst/>
            <a:ahLst/>
            <a:cxnLst/>
            <a:rect r="r" b="b" t="t" l="l"/>
            <a:pathLst>
              <a:path h="1543050" w="1799844">
                <a:moveTo>
                  <a:pt x="0" y="0"/>
                </a:moveTo>
                <a:lnTo>
                  <a:pt x="1799844" y="0"/>
                </a:lnTo>
                <a:lnTo>
                  <a:pt x="1799844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76690" y="1543050"/>
            <a:ext cx="4952990" cy="1485900"/>
            <a:chOff x="0" y="0"/>
            <a:chExt cx="6603987" cy="198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3984" cy="1981196"/>
            </a:xfrm>
            <a:custGeom>
              <a:avLst/>
              <a:gdLst/>
              <a:ahLst/>
              <a:cxnLst/>
              <a:rect r="r" b="b" t="t" l="l"/>
              <a:pathLst>
                <a:path h="1981196" w="6603984">
                  <a:moveTo>
                    <a:pt x="0" y="0"/>
                  </a:moveTo>
                  <a:lnTo>
                    <a:pt x="6603984" y="0"/>
                  </a:lnTo>
                  <a:lnTo>
                    <a:pt x="6603984" y="1981196"/>
                  </a:lnTo>
                  <a:lnTo>
                    <a:pt x="0" y="1981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6603987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CPU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Register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1125" y="1857375"/>
            <a:ext cx="2247890" cy="857250"/>
            <a:chOff x="0" y="0"/>
            <a:chExt cx="2997187" cy="114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97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97200">
                  <a:moveTo>
                    <a:pt x="0" y="0"/>
                  </a:moveTo>
                  <a:lnTo>
                    <a:pt x="2475992" y="0"/>
                  </a:lnTo>
                  <a:lnTo>
                    <a:pt x="2997200" y="571500"/>
                  </a:lnTo>
                  <a:lnTo>
                    <a:pt x="2475992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ACC15"/>
            </a:solidFill>
            <a:ln w="57150" cap="sq">
              <a:solidFill>
                <a:srgbClr val="06140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09700" y="1885950"/>
            <a:ext cx="1809750" cy="800100"/>
            <a:chOff x="0" y="0"/>
            <a:chExt cx="2413000" cy="106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12994" cy="1066798"/>
            </a:xfrm>
            <a:custGeom>
              <a:avLst/>
              <a:gdLst/>
              <a:ahLst/>
              <a:cxnLst/>
              <a:rect r="r" b="b" t="t" l="l"/>
              <a:pathLst>
                <a:path h="1066798" w="2412994">
                  <a:moveTo>
                    <a:pt x="0" y="0"/>
                  </a:moveTo>
                  <a:lnTo>
                    <a:pt x="2412994" y="0"/>
                  </a:lnTo>
                  <a:lnTo>
                    <a:pt x="2412994" y="1066798"/>
                  </a:lnTo>
                  <a:lnTo>
                    <a:pt x="0" y="10667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413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29771" y="1543050"/>
            <a:ext cx="7238981" cy="1485900"/>
            <a:chOff x="0" y="0"/>
            <a:chExt cx="9651975" cy="198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51976" cy="1981196"/>
            </a:xfrm>
            <a:custGeom>
              <a:avLst/>
              <a:gdLst/>
              <a:ahLst/>
              <a:cxnLst/>
              <a:rect r="r" b="b" t="t" l="l"/>
              <a:pathLst>
                <a:path h="1981196" w="9651976">
                  <a:moveTo>
                    <a:pt x="0" y="0"/>
                  </a:moveTo>
                  <a:lnTo>
                    <a:pt x="9651976" y="0"/>
                  </a:lnTo>
                  <a:lnTo>
                    <a:pt x="9651976" y="1981196"/>
                  </a:lnTo>
                  <a:lnTo>
                    <a:pt x="0" y="1981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926" r="0" b="-4492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9651975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0 – CPU Registers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fastest and smallest memory. Inside the CPU, it holds the data in use right now.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162921" y="3000365"/>
            <a:ext cx="2780528" cy="1543050"/>
          </a:xfrm>
          <a:custGeom>
            <a:avLst/>
            <a:gdLst/>
            <a:ahLst/>
            <a:cxnLst/>
            <a:rect r="r" b="b" t="t" l="l"/>
            <a:pathLst>
              <a:path h="1543050" w="2780528">
                <a:moveTo>
                  <a:pt x="0" y="0"/>
                </a:moveTo>
                <a:lnTo>
                  <a:pt x="2780529" y="0"/>
                </a:lnTo>
                <a:lnTo>
                  <a:pt x="2780529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076690" y="3028940"/>
            <a:ext cx="4952990" cy="1485900"/>
            <a:chOff x="0" y="0"/>
            <a:chExt cx="6603987" cy="198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3984" cy="1981196"/>
            </a:xfrm>
            <a:custGeom>
              <a:avLst/>
              <a:gdLst/>
              <a:ahLst/>
              <a:cxnLst/>
              <a:rect r="r" b="b" t="t" l="l"/>
              <a:pathLst>
                <a:path h="1981196" w="6603984">
                  <a:moveTo>
                    <a:pt x="0" y="0"/>
                  </a:moveTo>
                  <a:lnTo>
                    <a:pt x="6603984" y="0"/>
                  </a:lnTo>
                  <a:lnTo>
                    <a:pt x="6603984" y="1981196"/>
                  </a:lnTo>
                  <a:lnTo>
                    <a:pt x="0" y="1981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603987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Cache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81125" y="3343265"/>
            <a:ext cx="2247890" cy="857250"/>
            <a:chOff x="0" y="0"/>
            <a:chExt cx="2997187" cy="114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97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97200">
                  <a:moveTo>
                    <a:pt x="0" y="0"/>
                  </a:moveTo>
                  <a:lnTo>
                    <a:pt x="2475992" y="0"/>
                  </a:lnTo>
                  <a:lnTo>
                    <a:pt x="2997200" y="571500"/>
                  </a:lnTo>
                  <a:lnTo>
                    <a:pt x="2475992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A3E635"/>
            </a:solidFill>
            <a:ln w="57150" cap="sq">
              <a:solidFill>
                <a:srgbClr val="06140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09700" y="3371840"/>
            <a:ext cx="1809750" cy="800100"/>
            <a:chOff x="0" y="0"/>
            <a:chExt cx="2413000" cy="1066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12994" cy="1066798"/>
            </a:xfrm>
            <a:custGeom>
              <a:avLst/>
              <a:gdLst/>
              <a:ahLst/>
              <a:cxnLst/>
              <a:rect r="r" b="b" t="t" l="l"/>
              <a:pathLst>
                <a:path h="1066798" w="2412994">
                  <a:moveTo>
                    <a:pt x="0" y="0"/>
                  </a:moveTo>
                  <a:lnTo>
                    <a:pt x="2412994" y="0"/>
                  </a:lnTo>
                  <a:lnTo>
                    <a:pt x="2412994" y="1066798"/>
                  </a:lnTo>
                  <a:lnTo>
                    <a:pt x="0" y="10667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413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29771" y="3028940"/>
            <a:ext cx="7238981" cy="1485900"/>
            <a:chOff x="0" y="0"/>
            <a:chExt cx="9651975" cy="198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651976" cy="1981196"/>
            </a:xfrm>
            <a:custGeom>
              <a:avLst/>
              <a:gdLst/>
              <a:ahLst/>
              <a:cxnLst/>
              <a:rect r="r" b="b" t="t" l="l"/>
              <a:pathLst>
                <a:path h="1981196" w="9651976">
                  <a:moveTo>
                    <a:pt x="0" y="0"/>
                  </a:moveTo>
                  <a:lnTo>
                    <a:pt x="9651976" y="0"/>
                  </a:lnTo>
                  <a:lnTo>
                    <a:pt x="9651976" y="1981196"/>
                  </a:lnTo>
                  <a:lnTo>
                    <a:pt x="0" y="1981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926" r="0" b="-4492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9651975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A3E63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1 – Cache Memory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Very fast memory close to the CPU. Stores frequently used data.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4672574" y="4486265"/>
            <a:ext cx="3761222" cy="1543050"/>
          </a:xfrm>
          <a:custGeom>
            <a:avLst/>
            <a:gdLst/>
            <a:ahLst/>
            <a:cxnLst/>
            <a:rect r="r" b="b" t="t" l="l"/>
            <a:pathLst>
              <a:path h="1543050" w="3761222">
                <a:moveTo>
                  <a:pt x="0" y="0"/>
                </a:moveTo>
                <a:lnTo>
                  <a:pt x="3761223" y="0"/>
                </a:lnTo>
                <a:lnTo>
                  <a:pt x="3761223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4076690" y="4514840"/>
            <a:ext cx="4952990" cy="1485900"/>
            <a:chOff x="0" y="0"/>
            <a:chExt cx="6603987" cy="198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03984" cy="1981196"/>
            </a:xfrm>
            <a:custGeom>
              <a:avLst/>
              <a:gdLst/>
              <a:ahLst/>
              <a:cxnLst/>
              <a:rect r="r" b="b" t="t" l="l"/>
              <a:pathLst>
                <a:path h="1981196" w="6603984">
                  <a:moveTo>
                    <a:pt x="0" y="0"/>
                  </a:moveTo>
                  <a:lnTo>
                    <a:pt x="6603984" y="0"/>
                  </a:lnTo>
                  <a:lnTo>
                    <a:pt x="6603984" y="1981196"/>
                  </a:lnTo>
                  <a:lnTo>
                    <a:pt x="0" y="1981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6603987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Main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Memory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81125" y="4829165"/>
            <a:ext cx="2247890" cy="857250"/>
            <a:chOff x="0" y="0"/>
            <a:chExt cx="2997187" cy="1143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97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97200">
                  <a:moveTo>
                    <a:pt x="0" y="0"/>
                  </a:moveTo>
                  <a:lnTo>
                    <a:pt x="2475992" y="0"/>
                  </a:lnTo>
                  <a:lnTo>
                    <a:pt x="2997200" y="571500"/>
                  </a:lnTo>
                  <a:lnTo>
                    <a:pt x="2475992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5EE33A"/>
            </a:solidFill>
            <a:ln w="57150" cap="sq">
              <a:solidFill>
                <a:srgbClr val="06140A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09700" y="4857740"/>
            <a:ext cx="1809750" cy="800100"/>
            <a:chOff x="0" y="0"/>
            <a:chExt cx="2413000" cy="1066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12994" cy="1066798"/>
            </a:xfrm>
            <a:custGeom>
              <a:avLst/>
              <a:gdLst/>
              <a:ahLst/>
              <a:cxnLst/>
              <a:rect r="r" b="b" t="t" l="l"/>
              <a:pathLst>
                <a:path h="1066798" w="2412994">
                  <a:moveTo>
                    <a:pt x="0" y="0"/>
                  </a:moveTo>
                  <a:lnTo>
                    <a:pt x="2412994" y="0"/>
                  </a:lnTo>
                  <a:lnTo>
                    <a:pt x="2412994" y="1066798"/>
                  </a:lnTo>
                  <a:lnTo>
                    <a:pt x="0" y="10667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413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29771" y="4514840"/>
            <a:ext cx="7238981" cy="1485900"/>
            <a:chOff x="0" y="0"/>
            <a:chExt cx="9651975" cy="1981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51976" cy="1981196"/>
            </a:xfrm>
            <a:custGeom>
              <a:avLst/>
              <a:gdLst/>
              <a:ahLst/>
              <a:cxnLst/>
              <a:rect r="r" b="b" t="t" l="l"/>
              <a:pathLst>
                <a:path h="1981196" w="9651976">
                  <a:moveTo>
                    <a:pt x="0" y="0"/>
                  </a:moveTo>
                  <a:lnTo>
                    <a:pt x="9651976" y="0"/>
                  </a:lnTo>
                  <a:lnTo>
                    <a:pt x="9651976" y="1981196"/>
                  </a:lnTo>
                  <a:lnTo>
                    <a:pt x="0" y="1981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926" r="0" b="-4492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651975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2 – Main Memory (RAM)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Holds the programs and data in use right now. Faster than disks, but loses its data when turned off.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4182227" y="5972156"/>
            <a:ext cx="4741916" cy="1543050"/>
          </a:xfrm>
          <a:custGeom>
            <a:avLst/>
            <a:gdLst/>
            <a:ahLst/>
            <a:cxnLst/>
            <a:rect r="r" b="b" t="t" l="l"/>
            <a:pathLst>
              <a:path h="1543050" w="4741916">
                <a:moveTo>
                  <a:pt x="0" y="0"/>
                </a:moveTo>
                <a:lnTo>
                  <a:pt x="4741917" y="0"/>
                </a:lnTo>
                <a:lnTo>
                  <a:pt x="4741917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4076690" y="6000731"/>
            <a:ext cx="4952990" cy="1485900"/>
            <a:chOff x="0" y="0"/>
            <a:chExt cx="6603987" cy="198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03984" cy="1981196"/>
            </a:xfrm>
            <a:custGeom>
              <a:avLst/>
              <a:gdLst/>
              <a:ahLst/>
              <a:cxnLst/>
              <a:rect r="r" b="b" t="t" l="l"/>
              <a:pathLst>
                <a:path h="1981196" w="6603984">
                  <a:moveTo>
                    <a:pt x="0" y="0"/>
                  </a:moveTo>
                  <a:lnTo>
                    <a:pt x="6603984" y="0"/>
                  </a:lnTo>
                  <a:lnTo>
                    <a:pt x="6603984" y="1981196"/>
                  </a:lnTo>
                  <a:lnTo>
                    <a:pt x="0" y="1981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6603987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Magnetic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Disk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81125" y="6315056"/>
            <a:ext cx="2247890" cy="857250"/>
            <a:chOff x="0" y="0"/>
            <a:chExt cx="2997187" cy="1143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97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97200">
                  <a:moveTo>
                    <a:pt x="0" y="0"/>
                  </a:moveTo>
                  <a:lnTo>
                    <a:pt x="2475992" y="0"/>
                  </a:lnTo>
                  <a:lnTo>
                    <a:pt x="2997200" y="571500"/>
                  </a:lnTo>
                  <a:lnTo>
                    <a:pt x="2475992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2F9E44"/>
            </a:solidFill>
            <a:ln w="57150" cap="sq">
              <a:solidFill>
                <a:srgbClr val="06140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409700" y="6343631"/>
            <a:ext cx="1809750" cy="800100"/>
            <a:chOff x="0" y="0"/>
            <a:chExt cx="2413000" cy="1066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12994" cy="1066798"/>
            </a:xfrm>
            <a:custGeom>
              <a:avLst/>
              <a:gdLst/>
              <a:ahLst/>
              <a:cxnLst/>
              <a:rect r="r" b="b" t="t" l="l"/>
              <a:pathLst>
                <a:path h="1066798" w="2412994">
                  <a:moveTo>
                    <a:pt x="0" y="0"/>
                  </a:moveTo>
                  <a:lnTo>
                    <a:pt x="2412994" y="0"/>
                  </a:lnTo>
                  <a:lnTo>
                    <a:pt x="2412994" y="1066798"/>
                  </a:lnTo>
                  <a:lnTo>
                    <a:pt x="0" y="10667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413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829771" y="6000731"/>
            <a:ext cx="7238981" cy="1485900"/>
            <a:chOff x="0" y="0"/>
            <a:chExt cx="9651975" cy="1981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651976" cy="1981196"/>
            </a:xfrm>
            <a:custGeom>
              <a:avLst/>
              <a:gdLst/>
              <a:ahLst/>
              <a:cxnLst/>
              <a:rect r="r" b="b" t="t" l="l"/>
              <a:pathLst>
                <a:path h="1981196" w="9651976">
                  <a:moveTo>
                    <a:pt x="0" y="0"/>
                  </a:moveTo>
                  <a:lnTo>
                    <a:pt x="9651976" y="0"/>
                  </a:lnTo>
                  <a:lnTo>
                    <a:pt x="9651976" y="1981196"/>
                  </a:lnTo>
                  <a:lnTo>
                    <a:pt x="0" y="1981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926" r="0" b="-4492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9651975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4ADE8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3 – Magnetic Disk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HDDs store files, programs and the operating system. More capacity than RAM, slower, keeps data when turned off.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691880" y="7458056"/>
            <a:ext cx="5722610" cy="1543050"/>
          </a:xfrm>
          <a:custGeom>
            <a:avLst/>
            <a:gdLst/>
            <a:ahLst/>
            <a:cxnLst/>
            <a:rect r="r" b="b" t="t" l="l"/>
            <a:pathLst>
              <a:path h="1543050" w="5722610">
                <a:moveTo>
                  <a:pt x="0" y="0"/>
                </a:moveTo>
                <a:lnTo>
                  <a:pt x="5722611" y="0"/>
                </a:lnTo>
                <a:lnTo>
                  <a:pt x="5722611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076690" y="7486631"/>
            <a:ext cx="4952990" cy="1485900"/>
            <a:chOff x="0" y="0"/>
            <a:chExt cx="6603987" cy="1981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603984" cy="1981196"/>
            </a:xfrm>
            <a:custGeom>
              <a:avLst/>
              <a:gdLst/>
              <a:ahLst/>
              <a:cxnLst/>
              <a:rect r="r" b="b" t="t" l="l"/>
              <a:pathLst>
                <a:path h="1981196" w="6603984">
                  <a:moveTo>
                    <a:pt x="0" y="0"/>
                  </a:moveTo>
                  <a:lnTo>
                    <a:pt x="6603984" y="0"/>
                  </a:lnTo>
                  <a:lnTo>
                    <a:pt x="6603984" y="1981196"/>
                  </a:lnTo>
                  <a:lnTo>
                    <a:pt x="0" y="1981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603987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Magnetic Tape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Optical Disk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81125" y="7800956"/>
            <a:ext cx="2247890" cy="857250"/>
            <a:chOff x="0" y="0"/>
            <a:chExt cx="2997187" cy="1143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997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997200">
                  <a:moveTo>
                    <a:pt x="0" y="0"/>
                  </a:moveTo>
                  <a:lnTo>
                    <a:pt x="2475992" y="0"/>
                  </a:lnTo>
                  <a:lnTo>
                    <a:pt x="2997200" y="571500"/>
                  </a:lnTo>
                  <a:lnTo>
                    <a:pt x="2475992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1F6F2E"/>
            </a:solidFill>
            <a:ln w="57150" cap="sq">
              <a:solidFill>
                <a:srgbClr val="06140A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09700" y="7829531"/>
            <a:ext cx="1809750" cy="800100"/>
            <a:chOff x="0" y="0"/>
            <a:chExt cx="2413000" cy="1066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12994" cy="1066798"/>
            </a:xfrm>
            <a:custGeom>
              <a:avLst/>
              <a:gdLst/>
              <a:ahLst/>
              <a:cxnLst/>
              <a:rect r="r" b="b" t="t" l="l"/>
              <a:pathLst>
                <a:path h="1066798" w="2412994">
                  <a:moveTo>
                    <a:pt x="0" y="0"/>
                  </a:moveTo>
                  <a:lnTo>
                    <a:pt x="2412994" y="0"/>
                  </a:lnTo>
                  <a:lnTo>
                    <a:pt x="2412994" y="1066798"/>
                  </a:lnTo>
                  <a:lnTo>
                    <a:pt x="0" y="10667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413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829771" y="7486631"/>
            <a:ext cx="7238981" cy="1485900"/>
            <a:chOff x="0" y="0"/>
            <a:chExt cx="9651975" cy="1981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51976" cy="1981196"/>
            </a:xfrm>
            <a:custGeom>
              <a:avLst/>
              <a:gdLst/>
              <a:ahLst/>
              <a:cxnLst/>
              <a:rect r="r" b="b" t="t" l="l"/>
              <a:pathLst>
                <a:path h="1981196" w="9651976">
                  <a:moveTo>
                    <a:pt x="0" y="0"/>
                  </a:moveTo>
                  <a:lnTo>
                    <a:pt x="9651976" y="0"/>
                  </a:lnTo>
                  <a:lnTo>
                    <a:pt x="9651976" y="1981196"/>
                  </a:lnTo>
                  <a:lnTo>
                    <a:pt x="0" y="1981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926" r="0" b="-4492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9651975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6EFA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4 – Magnetic Tape and Optical Disk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Tapes, CDs and DVDs store or back up data. Slow to access, but keep data for a long time.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409700" y="9010631"/>
            <a:ext cx="666748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Top: faster, smaller. Bottom: slower, bigger.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09675" y="904875"/>
            <a:ext cx="876300" cy="95250"/>
            <a:chOff x="0" y="0"/>
            <a:chExt cx="1168400" cy="12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8400" cy="127000"/>
            </a:xfrm>
            <a:custGeom>
              <a:avLst/>
              <a:gdLst/>
              <a:ahLst/>
              <a:cxnLst/>
              <a:rect r="r" b="b" t="t" l="l"/>
              <a:pathLst>
                <a:path h="1270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201987" y="9286856"/>
            <a:ext cx="876300" cy="95250"/>
            <a:chOff x="0" y="0"/>
            <a:chExt cx="1168400" cy="12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8400" cy="127000"/>
            </a:xfrm>
            <a:custGeom>
              <a:avLst/>
              <a:gdLst/>
              <a:ahLst/>
              <a:cxnLst/>
              <a:rect r="r" b="b" t="t" l="l"/>
              <a:pathLst>
                <a:path h="1270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19200" y="3438515"/>
            <a:ext cx="10477471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0"/>
              </a:lnSpc>
            </a:pPr>
            <a:r>
              <a:rPr lang="en-US" sz="1275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&gt;THANKS!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5619740"/>
            <a:ext cx="857248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D9FBC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Thank you for your attention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itle 101" id="101"/>
          <p:cNvSpPr txBox="true"/>
          <p:nvPr/>
        </p:nvSpPr>
        <p:spPr>
          <a:xfrm>
            <a:off x="1219200" y="1219200"/>
            <a:ext cx="15849562" cy="9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&gt;TABLE OF CONTENTS</a:t>
            </a:r>
          </a:p>
        </p:txBody>
      </p:sp>
      <p:sp>
        <p:nvSpPr>
          <p:cNvPr name="Card 102" id="102"/>
          <p:cNvSpPr txBox="true"/>
          <p:nvPr/>
        </p:nvSpPr>
        <p:spPr>
          <a:xfrm>
            <a:off x="1219200" y="3000000"/>
            <a:ext cx="3699890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45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Introduction</a:t>
            </a:r>
          </a:p>
        </p:txBody>
      </p:sp>
      <p:sp>
        <p:nvSpPr>
          <p:cNvPr name="Card 103" id="103"/>
          <p:cNvSpPr txBox="true"/>
          <p:nvPr/>
        </p:nvSpPr>
        <p:spPr>
          <a:xfrm>
            <a:off x="5269090" y="3000000"/>
            <a:ext cx="3699890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45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Volatile vs non-volatile</a:t>
            </a:r>
          </a:p>
        </p:txBody>
      </p:sp>
      <p:sp>
        <p:nvSpPr>
          <p:cNvPr name="Card 104" id="104"/>
          <p:cNvSpPr txBox="true"/>
          <p:nvPr/>
        </p:nvSpPr>
        <p:spPr>
          <a:xfrm>
            <a:off x="9318980" y="3000000"/>
            <a:ext cx="3699890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45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RAM vs cache vs ROM</a:t>
            </a:r>
          </a:p>
        </p:txBody>
      </p:sp>
      <p:sp>
        <p:nvSpPr>
          <p:cNvPr name="Card 105" id="105"/>
          <p:cNvSpPr txBox="true"/>
          <p:nvPr/>
        </p:nvSpPr>
        <p:spPr>
          <a:xfrm>
            <a:off x="13368870" y="3000000"/>
            <a:ext cx="3699890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45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Main functions</a:t>
            </a:r>
          </a:p>
        </p:txBody>
      </p:sp>
      <p:sp>
        <p:nvSpPr>
          <p:cNvPr name="Card 106" id="106"/>
          <p:cNvSpPr txBox="true"/>
          <p:nvPr/>
        </p:nvSpPr>
        <p:spPr>
          <a:xfrm>
            <a:off x="1219200" y="6250000"/>
            <a:ext cx="3699890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45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Key specifications</a:t>
            </a:r>
          </a:p>
        </p:txBody>
      </p:sp>
      <p:sp>
        <p:nvSpPr>
          <p:cNvPr name="Card 107" id="107"/>
          <p:cNvSpPr txBox="true"/>
          <p:nvPr/>
        </p:nvSpPr>
        <p:spPr>
          <a:xfrm>
            <a:off x="5269090" y="6250000"/>
            <a:ext cx="3699890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45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Real-world examples</a:t>
            </a:r>
          </a:p>
        </p:txBody>
      </p:sp>
      <p:sp>
        <p:nvSpPr>
          <p:cNvPr name="Card 108" id="108"/>
          <p:cNvSpPr txBox="true"/>
          <p:nvPr/>
        </p:nvSpPr>
        <p:spPr>
          <a:xfrm>
            <a:off x="9318980" y="6250000"/>
            <a:ext cx="3699890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45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References</a:t>
            </a:r>
          </a:p>
        </p:txBody>
      </p:sp>
      <p:sp>
        <p:nvSpPr>
          <p:cNvPr name="Card 109" id="109"/>
          <p:cNvSpPr txBox="true"/>
          <p:nvPr/>
        </p:nvSpPr>
        <p:spPr>
          <a:xfrm>
            <a:off x="13368870" y="6250000"/>
            <a:ext cx="3699890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45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08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Kahoot quiz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itle 110" id="110"/>
          <p:cNvSpPr txBox="true"/>
          <p:nvPr/>
        </p:nvSpPr>
        <p:spPr>
          <a:xfrm>
            <a:off x="1219200" y="1219200"/>
            <a:ext cx="15849562" cy="9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&gt;INTRODUCTION</a:t>
            </a:r>
          </a:p>
        </p:txBody>
      </p:sp>
      <p:sp>
        <p:nvSpPr>
          <p:cNvPr name="Subtitle 111" id="111"/>
          <p:cNvSpPr txBox="true"/>
          <p:nvPr/>
        </p:nvSpPr>
        <p:spPr>
          <a:xfrm>
            <a:off x="1219200" y="2219315"/>
            <a:ext cx="15849562" cy="7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RAM = Random Access Memory</a:t>
            </a:r>
          </a:p>
        </p:txBody>
      </p:sp>
      <p:sp>
        <p:nvSpPr>
          <p:cNvPr name="Card 112" id="112"/>
          <p:cNvSpPr txBox="true"/>
          <p:nvPr/>
        </p:nvSpPr>
        <p:spPr>
          <a:xfrm>
            <a:off x="1219200" y="3100000"/>
            <a:ext cx="7749781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What is RAM?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RAM is the main memory of a computer.</a:t>
            </a:r>
          </a:p>
        </p:txBody>
      </p:sp>
      <p:sp>
        <p:nvSpPr>
          <p:cNvPr name="Card 113" id="113"/>
          <p:cNvSpPr txBox="true"/>
          <p:nvPr/>
        </p:nvSpPr>
        <p:spPr>
          <a:xfrm>
            <a:off x="9318981" y="3100000"/>
            <a:ext cx="7749781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What does it store?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 data and instructions the CPU is using right now: the operating system, open programs and files you edit.</a:t>
            </a:r>
          </a:p>
        </p:txBody>
      </p:sp>
      <p:sp>
        <p:nvSpPr>
          <p:cNvPr name="Card 114" id="114"/>
          <p:cNvSpPr txBox="true"/>
          <p:nvPr/>
        </p:nvSpPr>
        <p:spPr>
          <a:xfrm>
            <a:off x="1219200" y="6350000"/>
            <a:ext cx="7749781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Why is it fast?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It is much faster than a storage drive (HDD or SSD), so the CPU does not wait for the disk.</a:t>
            </a:r>
          </a:p>
        </p:txBody>
      </p:sp>
      <p:sp>
        <p:nvSpPr>
          <p:cNvPr name="Card 115" id="115"/>
          <p:cNvSpPr txBox="true"/>
          <p:nvPr/>
        </p:nvSpPr>
        <p:spPr>
          <a:xfrm>
            <a:off x="9318981" y="6350000"/>
            <a:ext cx="7749781" cy="2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Why more RAM?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 more RAM a computer has, the more programs it can run at the same time.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itle 116" id="116"/>
          <p:cNvSpPr txBox="true"/>
          <p:nvPr/>
        </p:nvSpPr>
        <p:spPr>
          <a:xfrm>
            <a:off x="1219200" y="1219200"/>
            <a:ext cx="15849562" cy="9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&gt;HOW RAM WORKS</a:t>
            </a:r>
          </a:p>
        </p:txBody>
      </p:sp>
      <p:sp>
        <p:nvSpPr>
          <p:cNvPr name="Card 117" id="117"/>
          <p:cNvSpPr txBox="true"/>
          <p:nvPr/>
        </p:nvSpPr>
        <p:spPr>
          <a:xfrm>
            <a:off x="1219200" y="2500000"/>
            <a:ext cx="7749781" cy="33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1. Open a program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 operating system copies it from the drive (slow, non-volatile) into RAM (fast, volatile).</a:t>
            </a:r>
          </a:p>
        </p:txBody>
      </p:sp>
      <p:sp>
        <p:nvSpPr>
          <p:cNvPr name="Card 118" id="118"/>
          <p:cNvSpPr txBox="true"/>
          <p:nvPr/>
        </p:nvSpPr>
        <p:spPr>
          <a:xfrm>
            <a:off x="9318981" y="2500000"/>
            <a:ext cx="7749781" cy="33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2. Work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 CPU reads instructions and data from RAM and writes the results back.</a:t>
            </a:r>
          </a:p>
        </p:txBody>
      </p:sp>
      <p:sp>
        <p:nvSpPr>
          <p:cNvPr name="Card 119" id="119"/>
          <p:cNvSpPr txBox="true"/>
          <p:nvPr/>
        </p:nvSpPr>
        <p:spPr>
          <a:xfrm>
            <a:off x="1219200" y="6150000"/>
            <a:ext cx="7749781" cy="33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3. Close or turn off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When you close the program or turn off the computer, the RAM is cleared.</a:t>
            </a:r>
          </a:p>
        </p:txBody>
      </p:sp>
      <p:sp>
        <p:nvSpPr>
          <p:cNvPr name="Card 120" id="120"/>
          <p:cNvSpPr txBox="true"/>
          <p:nvPr/>
        </p:nvSpPr>
        <p:spPr>
          <a:xfrm>
            <a:off x="9318981" y="6150000"/>
            <a:ext cx="7749781" cy="33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4. Not enough RAM?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 system uses part of the drive as virtual memory, and the computer becomes much slower.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itle 121" id="121"/>
          <p:cNvSpPr txBox="true"/>
          <p:nvPr/>
        </p:nvSpPr>
        <p:spPr>
          <a:xfrm>
            <a:off x="1219200" y="1219200"/>
            <a:ext cx="15849562" cy="9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&gt;CPU AND RAM</a:t>
            </a:r>
          </a:p>
        </p:txBody>
      </p:sp>
      <p:sp>
        <p:nvSpPr>
          <p:cNvPr name="Subtitle 122" id="122"/>
          <p:cNvSpPr txBox="true"/>
          <p:nvPr/>
        </p:nvSpPr>
        <p:spPr>
          <a:xfrm>
            <a:off x="1219200" y="2219315"/>
            <a:ext cx="15849562" cy="7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The CPU talks to RAM through the memory controller, which is inside the processor. So the CPU decides which memory the computer can use.</a:t>
            </a:r>
          </a:p>
        </p:txBody>
      </p:sp>
      <p:sp>
        <p:nvSpPr>
          <p:cNvPr name="Card 123" id="123"/>
          <p:cNvSpPr txBox="true"/>
          <p:nvPr/>
        </p:nvSpPr>
        <p:spPr>
          <a:xfrm>
            <a:off x="1219200" y="3700000"/>
            <a:ext cx="5049854" cy="53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Memory type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A CPU can support DDR4, DDR5 or both, depending on the model.</a:t>
            </a:r>
          </a:p>
        </p:txBody>
      </p:sp>
      <p:sp>
        <p:nvSpPr>
          <p:cNvPr name="Card 124" id="124"/>
          <p:cNvSpPr txBox="true"/>
          <p:nvPr/>
        </p:nvSpPr>
        <p:spPr>
          <a:xfrm>
            <a:off x="6619054" y="3700000"/>
            <a:ext cx="5049854" cy="53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Speed and channels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Each CPU has a maximum memory speed and a number of channels it supports. Faster RAM works at higher speeds only with profiles like XMP or EXPO.</a:t>
            </a:r>
          </a:p>
        </p:txBody>
      </p:sp>
      <p:sp>
        <p:nvSpPr>
          <p:cNvPr name="Card 125" id="125"/>
          <p:cNvSpPr txBox="true"/>
          <p:nvPr/>
        </p:nvSpPr>
        <p:spPr>
          <a:xfrm>
            <a:off x="12018908" y="3700000"/>
            <a:ext cx="5049854" cy="53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Cache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8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 CPU keeps copies of the most used RAM data in its cache (L1, L2, L3), so it does not wait for RAM every time.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itle 126" id="126"/>
          <p:cNvSpPr txBox="true"/>
          <p:nvPr/>
        </p:nvSpPr>
        <p:spPr>
          <a:xfrm>
            <a:off x="1219200" y="1219200"/>
            <a:ext cx="15849562" cy="9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&gt;MOTHERBOARD AND RAM</a:t>
            </a:r>
          </a:p>
        </p:txBody>
      </p:sp>
      <p:sp>
        <p:nvSpPr>
          <p:cNvPr name="Subtitle 127" id="127"/>
          <p:cNvSpPr txBox="true"/>
          <p:nvPr/>
        </p:nvSpPr>
        <p:spPr>
          <a:xfrm>
            <a:off x="1219200" y="2219315"/>
            <a:ext cx="15849562" cy="7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RAM modules go in the DIMM slots of the motherboard, so both must be compatible.</a:t>
            </a:r>
          </a:p>
        </p:txBody>
      </p:sp>
      <p:sp>
        <p:nvSpPr>
          <p:cNvPr name="Card 128" id="128"/>
          <p:cNvSpPr txBox="true"/>
          <p:nvPr/>
        </p:nvSpPr>
        <p:spPr>
          <a:xfrm>
            <a:off x="1219200" y="3200000"/>
            <a:ext cx="7749781" cy="285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DDR generation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A DDR4 module does not fit in a DDR5 slot because the notch is in a different position. Buy RAM of the same generation as the motherboard.</a:t>
            </a:r>
          </a:p>
        </p:txBody>
      </p:sp>
      <p:sp>
        <p:nvSpPr>
          <p:cNvPr name="Card 129" id="129"/>
          <p:cNvSpPr txBox="true"/>
          <p:nvPr/>
        </p:nvSpPr>
        <p:spPr>
          <a:xfrm>
            <a:off x="9318981" y="3200000"/>
            <a:ext cx="7749781" cy="285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Number of slots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Motherboards usually have 2 or 4 slots. Each one has a maximum total capacity.</a:t>
            </a:r>
          </a:p>
        </p:txBody>
      </p:sp>
      <p:sp>
        <p:nvSpPr>
          <p:cNvPr name="Card 130" id="130"/>
          <p:cNvSpPr txBox="true"/>
          <p:nvPr/>
        </p:nvSpPr>
        <p:spPr>
          <a:xfrm>
            <a:off x="1219200" y="6400000"/>
            <a:ext cx="7749781" cy="285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Dual channel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 slots work in pairs. For dual channel, install the modules in the correct slots (the manual shows which).</a:t>
            </a:r>
          </a:p>
        </p:txBody>
      </p:sp>
      <p:sp>
        <p:nvSpPr>
          <p:cNvPr name="Card 131" id="131"/>
          <p:cNvSpPr txBox="true"/>
          <p:nvPr/>
        </p:nvSpPr>
        <p:spPr>
          <a:xfrm>
            <a:off x="9318981" y="6400000"/>
            <a:ext cx="7749781" cy="285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Chipset and BIOS/UEFI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They define the supported speeds. In the BIOS/UEFI you can turn on the XMP or EXPO profile of the RAM.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itle 132" id="132"/>
          <p:cNvSpPr txBox="true"/>
          <p:nvPr/>
        </p:nvSpPr>
        <p:spPr>
          <a:xfrm>
            <a:off x="1219200" y="1219200"/>
            <a:ext cx="15849562" cy="9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&gt;LATENCY, VOLTAGE AND NOTCH</a:t>
            </a:r>
          </a:p>
        </p:txBody>
      </p:sp>
      <p:sp>
        <p:nvSpPr>
          <p:cNvPr name="Subtitle 133" id="133"/>
          <p:cNvSpPr txBox="true"/>
          <p:nvPr/>
        </p:nvSpPr>
        <p:spPr>
          <a:xfrm>
            <a:off x="1219200" y="2219315"/>
            <a:ext cx="15849562" cy="7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More details about DDR4 vs DDR5</a:t>
            </a:r>
          </a:p>
        </p:txBody>
      </p:sp>
      <p:sp>
        <p:nvSpPr>
          <p:cNvPr name="Card 134" id="134"/>
          <p:cNvSpPr txBox="true"/>
          <p:nvPr/>
        </p:nvSpPr>
        <p:spPr>
          <a:xfrm>
            <a:off x="1219200" y="3300000"/>
            <a:ext cx="5049854" cy="5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Real latency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Real latency in ns = CL × 2000 / MT/s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DDR4-3200 CL16 = 10 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DDR5-6000 CL38 ≈ 12.7 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DDR5 has a higher CL, but also a higher speed, so the real latency is similar.</a:t>
            </a:r>
          </a:p>
        </p:txBody>
      </p:sp>
      <p:sp>
        <p:nvSpPr>
          <p:cNvPr name="Card 135" id="135"/>
          <p:cNvSpPr txBox="true"/>
          <p:nvPr/>
        </p:nvSpPr>
        <p:spPr>
          <a:xfrm>
            <a:off x="6619054" y="3300000"/>
            <a:ext cx="5049854" cy="5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Voltage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DDR4 works at 1.2 V.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DDR5 works at 1.1 V.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So DDR5 uses less power.</a:t>
            </a:r>
          </a:p>
        </p:txBody>
      </p:sp>
      <p:sp>
        <p:nvSpPr>
          <p:cNvPr name="Card 136" id="136"/>
          <p:cNvSpPr txBox="true"/>
          <p:nvPr/>
        </p:nvSpPr>
        <p:spPr>
          <a:xfrm>
            <a:off x="12018908" y="3300000"/>
            <a:ext cx="5049854" cy="59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en-US" sz="34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Notch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 notch is in a different position on DDR4 and DDR5.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This stops you from inserting the wrong type and makes you install it in the correct direction.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itle 137" id="137"/>
          <p:cNvSpPr txBox="true"/>
          <p:nvPr/>
        </p:nvSpPr>
        <p:spPr>
          <a:xfrm>
            <a:off x="1219200" y="1219200"/>
            <a:ext cx="15849562" cy="9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&gt;REFERENCES</a:t>
            </a:r>
          </a:p>
        </p:txBody>
      </p:sp>
      <p:sp>
        <p:nvSpPr>
          <p:cNvPr name="Subtitle 138" id="138"/>
          <p:cNvSpPr txBox="true"/>
          <p:nvPr/>
        </p:nvSpPr>
        <p:spPr>
          <a:xfrm>
            <a:off x="1219200" y="2219315"/>
            <a:ext cx="15849562" cy="7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All pages accessed on 2026-10-28</a:t>
            </a:r>
          </a:p>
        </p:txBody>
      </p:sp>
      <p:sp>
        <p:nvSpPr>
          <p:cNvPr name="Card 139" id="139"/>
          <p:cNvSpPr txBox="true"/>
          <p:nvPr/>
        </p:nvSpPr>
        <p:spPr>
          <a:xfrm>
            <a:off x="1219200" y="3000000"/>
            <a:ext cx="15849562" cy="64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t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0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Kingston — What is computer memory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1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https://www.kingston.com/es/blog/pc-performance/what-is-computer-memory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0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Crucial — Difference among DDR2, DDR3, DDR4 and DDR5 memory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1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https://test.crucial.com/articles/about-memory/difference-among-ddr2-ddr3-ddr4-and-ddr5-memory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0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TechTarget — Compare DIMM vs SO-DIMM features and uses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1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https://www.techtarget.com/it-infrastructure/tip/Compare-DIMM-vs-SO-DIMM-features-uses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0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Kingston — Glossary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1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https://www.kingston.com/en/memory/kingston-glossary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0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PcComponentes — Forgeon Cyclone PLUS V2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1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https://www.pccomponentes.com/memoria-ram-forgeon-cyclone-plus-v2-ddr4-3200-mhz-16gb-2x8gb-cl16-negra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0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PcComponentes — G.Skill Ripjaws V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1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https://www.pccomponentes.com/memoria-ram-g-skill-ripjaws-v-ddr4-3600mhz-pc4-28800-32gb-2x16gb-cl18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0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PcComponentes — Kingston FURY Beast DDR5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1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https://www.pccomponentes.com/kingston-fury-beast-ddr5-5600mhz-32gb-2x16gb-cl36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0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PcComponentes — Corsair Vengeance DDR5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en-US" sz="14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https://www.pccomponentes.com/memoria-ram-corsair-vengeance-32gb-2x16gb-ddr5-6000mhz-cl38-intel-xmp-negra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371475"/>
            <a:ext cx="18306593" cy="57150"/>
            <a:chOff x="0" y="0"/>
            <a:chExt cx="2440879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858346"/>
            <a:ext cx="18306593" cy="57150"/>
            <a:chOff x="0" y="0"/>
            <a:chExt cx="2440879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76200"/>
            </a:xfrm>
            <a:custGeom>
              <a:avLst/>
              <a:gdLst/>
              <a:ahLst/>
              <a:cxnLst/>
              <a:rect r="r" b="b" t="t" l="l"/>
              <a:pathLst>
                <a:path h="76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itle 140" id="140"/>
          <p:cNvSpPr txBox="true"/>
          <p:nvPr/>
        </p:nvSpPr>
        <p:spPr>
          <a:xfrm>
            <a:off x="1219200" y="1219200"/>
            <a:ext cx="15849562" cy="9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&gt;KAHOOT QUIZ</a:t>
            </a:r>
          </a:p>
        </p:txBody>
      </p:sp>
      <p:sp>
        <p:nvSpPr>
          <p:cNvPr name="Subtitle 141" id="141"/>
          <p:cNvSpPr txBox="true"/>
          <p:nvPr/>
        </p:nvSpPr>
        <p:spPr>
          <a:xfrm>
            <a:off x="1219200" y="2219315"/>
            <a:ext cx="15849562" cy="700000"/>
          </a:xfrm>
          <a:prstGeom prst="rect">
            <a:avLst/>
          </a:prstGeom>
          <a:noFill/>
        </p:spPr>
        <p:txBody>
          <a:bodyPr anchor="t" rtlCol="false" tIns="0" lIns="0" bIns="0" rIns="0">
            <a:norm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Test what you learned!</a:t>
            </a:r>
          </a:p>
        </p:txBody>
      </p:sp>
      <p:sp>
        <p:nvSpPr>
          <p:cNvPr name="Card 142" id="142"/>
          <p:cNvSpPr txBox="true"/>
          <p:nvPr/>
        </p:nvSpPr>
        <p:spPr>
          <a:xfrm>
            <a:off x="1219200" y="3300000"/>
            <a:ext cx="15849562" cy="5000000"/>
          </a:xfrm>
          <a:prstGeom prst="roundRect">
            <a:avLst>
              <a:gd name="adj" fmla="val 4000"/>
            </a:avLst>
          </a:prstGeom>
          <a:solidFill>
            <a:srgbClr val="0C2810"/>
          </a:solidFill>
          <a:ln w="28575">
            <a:solidFill>
              <a:srgbClr val="2F7D1F"/>
            </a:solidFill>
          </a:ln>
        </p:spPr>
        <p:txBody>
          <a:bodyPr anchor="ctr" rtlCol="false" tIns="270000" lIns="270000" bIns="270000" rIns="270000">
            <a:norm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lang="en-US" sz="36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Play my quiz here: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2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https://create.kahoot.it/share/ram-test/7a3f937f-a1da-4a97-8288-bdef654acedf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DAHY0DNNVME</dc:identifier>
  <dcterms:modified xsi:type="dcterms:W3CDTF">2011-08-01T06:04:30Z</dcterms:modified>
  <cp:revision>1</cp:revision>
  <dc:title>RAM-presentation.pptx</dc:title>
</cp:coreProperties>
</file>