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Space Mono Bold" charset="1" panose="02000809030000020004"/>
      <p:regular r:id="rId18"/>
    </p:embeddedFont>
    <p:embeddedFont>
      <p:font typeface="Space Mono" charset="1" panose="02000509040000020004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notesMasters/notesMaster1.xml" Type="http://schemas.openxmlformats.org/officeDocument/2006/relationships/notesMaster"/><Relationship Id="rId16" Target="theme/theme2.xml" Type="http://schemas.openxmlformats.org/officeDocument/2006/relationships/theme"/><Relationship Id="rId17" Target="notesSlides/notesSlide1.xml" Type="http://schemas.openxmlformats.org/officeDocument/2006/relationships/notes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notesSlides/notesSlide2.xml" Type="http://schemas.openxmlformats.org/officeDocument/2006/relationships/notesSlide"/><Relationship Id="rId21" Target="notesSlides/notesSlide3.xml" Type="http://schemas.openxmlformats.org/officeDocument/2006/relationships/notesSlide"/><Relationship Id="rId22" Target="notesSlides/notesSlide4.xml" Type="http://schemas.openxmlformats.org/officeDocument/2006/relationships/notesSlide"/><Relationship Id="rId23" Target="notesSlides/notesSlide5.xml" Type="http://schemas.openxmlformats.org/officeDocument/2006/relationships/notesSlide"/><Relationship Id="rId24" Target="notesSlides/notesSlide6.xml" Type="http://schemas.openxmlformats.org/officeDocument/2006/relationships/notesSlide"/><Relationship Id="rId25" Target="notesSlides/notesSlide7.xml" Type="http://schemas.openxmlformats.org/officeDocument/2006/relationships/notesSlide"/><Relationship Id="rId26" Target="notesSlides/notesSlide8.xml" Type="http://schemas.openxmlformats.org/officeDocument/2006/relationships/notesSlide"/><Relationship Id="rId27" Target="notesSlides/notesSlide9.xml" Type="http://schemas.openxmlformats.org/officeDocument/2006/relationships/notes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6.png" Type="http://schemas.openxmlformats.org/officeDocument/2006/relationships/image"/><Relationship Id="rId4" Target="../media/image7.png" Type="http://schemas.openxmlformats.org/officeDocument/2006/relationships/image"/><Relationship Id="rId5" Target="../media/image8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9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0.png" Type="http://schemas.openxmlformats.org/officeDocument/2006/relationships/image"/><Relationship Id="rId4" Target="../media/image1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2.png" Type="http://schemas.openxmlformats.org/officeDocument/2006/relationships/image"/><Relationship Id="rId4" Target="../media/image13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4.png" Type="http://schemas.openxmlformats.org/officeDocument/2006/relationships/image"/><Relationship Id="rId4" Target="../media/image15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2.png" Type="http://schemas.openxmlformats.org/officeDocument/2006/relationships/image"/><Relationship Id="rId11" Target="../media/image23.svg" Type="http://schemas.openxmlformats.org/officeDocument/2006/relationships/image"/><Relationship Id="rId12" Target="../media/image24.png" Type="http://schemas.openxmlformats.org/officeDocument/2006/relationships/image"/><Relationship Id="rId13" Target="../media/image25.svg" Type="http://schemas.openxmlformats.org/officeDocument/2006/relationships/image"/><Relationship Id="rId2" Target="../notesSlides/notesSlide8.xml" Type="http://schemas.openxmlformats.org/officeDocument/2006/relationships/notesSlide"/><Relationship Id="rId3" Target="../media/image16.png" Type="http://schemas.openxmlformats.org/officeDocument/2006/relationships/image"/><Relationship Id="rId4" Target="../media/image17.svg" Type="http://schemas.openxmlformats.org/officeDocument/2006/relationships/image"/><Relationship Id="rId5" Target="../media/image1.jpeg" Type="http://schemas.openxmlformats.org/officeDocument/2006/relationships/image"/><Relationship Id="rId6" Target="../media/image18.png" Type="http://schemas.openxmlformats.org/officeDocument/2006/relationships/image"/><Relationship Id="rId7" Target="../media/image19.svg" Type="http://schemas.openxmlformats.org/officeDocument/2006/relationships/image"/><Relationship Id="rId8" Target="../media/image20.png" Type="http://schemas.openxmlformats.org/officeDocument/2006/relationships/image"/><Relationship Id="rId9" Target="../media/image21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614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371475"/>
            <a:ext cx="18306593" cy="57150"/>
            <a:chOff x="0" y="0"/>
            <a:chExt cx="2440879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764" cy="76200"/>
            </a:xfrm>
            <a:custGeom>
              <a:avLst/>
              <a:gdLst/>
              <a:ahLst/>
              <a:cxnLst/>
              <a:rect r="r" b="b" t="t" l="l"/>
              <a:pathLst>
                <a:path h="76200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-9525" y="9858346"/>
            <a:ext cx="18306593" cy="57150"/>
            <a:chOff x="0" y="0"/>
            <a:chExt cx="24408790" cy="76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8764" cy="76200"/>
            </a:xfrm>
            <a:custGeom>
              <a:avLst/>
              <a:gdLst/>
              <a:ahLst/>
              <a:cxnLst/>
              <a:rect r="r" b="b" t="t" l="l"/>
              <a:pathLst>
                <a:path h="76200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1209675" y="904875"/>
            <a:ext cx="876300" cy="95250"/>
            <a:chOff x="0" y="0"/>
            <a:chExt cx="1168400" cy="127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68400" cy="127000"/>
            </a:xfrm>
            <a:custGeom>
              <a:avLst/>
              <a:gdLst/>
              <a:ahLst/>
              <a:cxnLst/>
              <a:rect r="r" b="b" t="t" l="l"/>
              <a:pathLst>
                <a:path h="1270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127000"/>
                  </a:lnTo>
                  <a:lnTo>
                    <a:pt x="0" y="127000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6201987" y="9286856"/>
            <a:ext cx="876300" cy="95250"/>
            <a:chOff x="0" y="0"/>
            <a:chExt cx="1168400" cy="127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68400" cy="127000"/>
            </a:xfrm>
            <a:custGeom>
              <a:avLst/>
              <a:gdLst/>
              <a:ahLst/>
              <a:cxnLst/>
              <a:rect r="r" b="b" t="t" l="l"/>
              <a:pathLst>
                <a:path h="1270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127000"/>
                  </a:lnTo>
                  <a:lnTo>
                    <a:pt x="0" y="127000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209675" y="3143240"/>
            <a:ext cx="2305040" cy="152400"/>
            <a:chOff x="0" y="0"/>
            <a:chExt cx="3073387" cy="203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073400" cy="203200"/>
            </a:xfrm>
            <a:custGeom>
              <a:avLst/>
              <a:gdLst/>
              <a:ahLst/>
              <a:cxnLst/>
              <a:rect r="r" b="b" t="t" l="l"/>
              <a:pathLst>
                <a:path h="203200" w="3073400">
                  <a:moveTo>
                    <a:pt x="0" y="0"/>
                  </a:moveTo>
                  <a:lnTo>
                    <a:pt x="3073400" y="0"/>
                  </a:lnTo>
                  <a:lnTo>
                    <a:pt x="3073400" y="203200"/>
                  </a:lnTo>
                  <a:lnTo>
                    <a:pt x="0" y="203200"/>
                  </a:lnTo>
                  <a:close/>
                </a:path>
              </a:pathLst>
            </a:custGeom>
            <a:solidFill>
              <a:srgbClr val="FACC15"/>
            </a:solidFill>
            <a:ln w="19050" cap="sq">
              <a:solidFill>
                <a:srgbClr val="FACC15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5573337" y="1419225"/>
            <a:ext cx="628650" cy="628650"/>
            <a:chOff x="0" y="0"/>
            <a:chExt cx="838200" cy="838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38200" cy="838200"/>
            </a:xfrm>
            <a:custGeom>
              <a:avLst/>
              <a:gdLst/>
              <a:ahLst/>
              <a:cxnLst/>
              <a:rect r="r" b="b" t="t" l="l"/>
              <a:pathLst>
                <a:path h="838200" w="838200">
                  <a:moveTo>
                    <a:pt x="0" y="0"/>
                  </a:moveTo>
                  <a:lnTo>
                    <a:pt x="838200" y="0"/>
                  </a:lnTo>
                  <a:lnTo>
                    <a:pt x="838200" y="838200"/>
                  </a:lnTo>
                  <a:lnTo>
                    <a:pt x="0" y="838200"/>
                  </a:lnTo>
                  <a:close/>
                </a:path>
              </a:pathLst>
            </a:custGeom>
            <a:solidFill>
              <a:srgbClr val="14330F"/>
            </a:solidFill>
            <a:ln w="19050" cap="sq">
              <a:solidFill>
                <a:srgbClr val="14330F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5706687" y="1514475"/>
            <a:ext cx="361950" cy="438150"/>
            <a:chOff x="0" y="0"/>
            <a:chExt cx="482600" cy="5842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82600" cy="584200"/>
            </a:xfrm>
            <a:custGeom>
              <a:avLst/>
              <a:gdLst/>
              <a:ahLst/>
              <a:cxnLst/>
              <a:rect r="r" b="b" t="t" l="l"/>
              <a:pathLst>
                <a:path h="584200" w="482600">
                  <a:moveTo>
                    <a:pt x="189230" y="0"/>
                  </a:moveTo>
                  <a:lnTo>
                    <a:pt x="287274" y="164465"/>
                  </a:lnTo>
                  <a:lnTo>
                    <a:pt x="246888" y="183896"/>
                  </a:lnTo>
                  <a:lnTo>
                    <a:pt x="370332" y="324866"/>
                  </a:lnTo>
                  <a:lnTo>
                    <a:pt x="329946" y="348361"/>
                  </a:lnTo>
                  <a:lnTo>
                    <a:pt x="482600" y="584200"/>
                  </a:lnTo>
                  <a:lnTo>
                    <a:pt x="223647" y="403352"/>
                  </a:lnTo>
                  <a:lnTo>
                    <a:pt x="273050" y="378206"/>
                  </a:lnTo>
                  <a:lnTo>
                    <a:pt x="112141" y="262509"/>
                  </a:lnTo>
                  <a:lnTo>
                    <a:pt x="169799" y="226695"/>
                  </a:lnTo>
                  <a:lnTo>
                    <a:pt x="0" y="105156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8109899" y="997321"/>
            <a:ext cx="628650" cy="628650"/>
            <a:chOff x="0" y="0"/>
            <a:chExt cx="838200" cy="838200"/>
          </a:xfrm>
        </p:grpSpPr>
        <p:grpSp>
          <p:nvGrpSpPr>
            <p:cNvPr name="Group 17" id="17"/>
            <p:cNvGrpSpPr/>
            <p:nvPr/>
          </p:nvGrpSpPr>
          <p:grpSpPr>
            <a:xfrm rot="0">
              <a:off x="0" y="0"/>
              <a:ext cx="838200" cy="838200"/>
              <a:chOff x="0" y="0"/>
              <a:chExt cx="838200" cy="838200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838200" cy="838200"/>
              </a:xfrm>
              <a:custGeom>
                <a:avLst/>
                <a:gdLst/>
                <a:ahLst/>
                <a:cxnLst/>
                <a:rect r="r" b="b" t="t" l="l"/>
                <a:pathLst>
                  <a:path h="838200" w="838200">
                    <a:moveTo>
                      <a:pt x="0" y="0"/>
                    </a:moveTo>
                    <a:lnTo>
                      <a:pt x="838200" y="0"/>
                    </a:lnTo>
                    <a:lnTo>
                      <a:pt x="838200" y="838200"/>
                    </a:lnTo>
                    <a:lnTo>
                      <a:pt x="0" y="838200"/>
                    </a:lnTo>
                    <a:close/>
                  </a:path>
                </a:pathLst>
              </a:custGeom>
              <a:solidFill>
                <a:srgbClr val="14330F"/>
              </a:solidFill>
              <a:ln w="19050" cap="sq">
                <a:solidFill>
                  <a:srgbClr val="14330F"/>
                </a:solidFill>
                <a:prstDash val="solid"/>
                <a:miter/>
              </a:ln>
            </p:spPr>
          </p:sp>
        </p:grpSp>
        <p:grpSp>
          <p:nvGrpSpPr>
            <p:cNvPr name="Group 19" id="19"/>
            <p:cNvGrpSpPr/>
            <p:nvPr/>
          </p:nvGrpSpPr>
          <p:grpSpPr>
            <a:xfrm rot="0">
              <a:off x="152400" y="152400"/>
              <a:ext cx="533400" cy="533400"/>
              <a:chOff x="0" y="0"/>
              <a:chExt cx="533400" cy="5334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533400" cy="533400"/>
              </a:xfrm>
              <a:custGeom>
                <a:avLst/>
                <a:gdLst/>
                <a:ahLst/>
                <a:cxnLst/>
                <a:rect r="r" b="b" t="t" l="l"/>
                <a:pathLst>
                  <a:path h="533400" w="533400">
                    <a:moveTo>
                      <a:pt x="0" y="266700"/>
                    </a:moveTo>
                    <a:cubicBezTo>
                      <a:pt x="0" y="119380"/>
                      <a:pt x="119380" y="0"/>
                      <a:pt x="266700" y="0"/>
                    </a:cubicBezTo>
                    <a:cubicBezTo>
                      <a:pt x="414020" y="0"/>
                      <a:pt x="533400" y="119380"/>
                      <a:pt x="533400" y="266700"/>
                    </a:cubicBezTo>
                    <a:cubicBezTo>
                      <a:pt x="533400" y="414020"/>
                      <a:pt x="414020" y="533400"/>
                      <a:pt x="266700" y="533400"/>
                    </a:cubicBezTo>
                    <a:cubicBezTo>
                      <a:pt x="119380" y="533400"/>
                      <a:pt x="0" y="414020"/>
                      <a:pt x="0" y="266700"/>
                    </a:cubicBez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t="0" r="-78303" b="0"/>
                </a:stretch>
              </a:blipFill>
              <a:ln w="57150" cap="sq">
                <a:solidFill>
                  <a:srgbClr val="5EE33A"/>
                </a:solidFill>
                <a:prstDash val="solid"/>
                <a:miter/>
              </a:ln>
            </p:spPr>
          </p:sp>
        </p:grpSp>
        <p:grpSp>
          <p:nvGrpSpPr>
            <p:cNvPr name="Group 21" id="21"/>
            <p:cNvGrpSpPr/>
            <p:nvPr/>
          </p:nvGrpSpPr>
          <p:grpSpPr>
            <a:xfrm rot="0">
              <a:off x="330200" y="330200"/>
              <a:ext cx="177800" cy="177800"/>
              <a:chOff x="0" y="0"/>
              <a:chExt cx="177800" cy="177800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177800" cy="177800"/>
              </a:xfrm>
              <a:custGeom>
                <a:avLst/>
                <a:gdLst/>
                <a:ahLst/>
                <a:cxnLst/>
                <a:rect r="r" b="b" t="t" l="l"/>
                <a:pathLst>
                  <a:path h="177800" w="177800">
                    <a:moveTo>
                      <a:pt x="0" y="88900"/>
                    </a:moveTo>
                    <a:cubicBezTo>
                      <a:pt x="0" y="39751"/>
                      <a:pt x="39751" y="0"/>
                      <a:pt x="88900" y="0"/>
                    </a:cubicBezTo>
                    <a:cubicBezTo>
                      <a:pt x="138049" y="0"/>
                      <a:pt x="177800" y="39751"/>
                      <a:pt x="177800" y="88900"/>
                    </a:cubicBezTo>
                    <a:cubicBezTo>
                      <a:pt x="177800" y="138049"/>
                      <a:pt x="138049" y="177800"/>
                      <a:pt x="88900" y="177800"/>
                    </a:cubicBezTo>
                    <a:cubicBezTo>
                      <a:pt x="39751" y="177800"/>
                      <a:pt x="0" y="138049"/>
                      <a:pt x="0" y="88900"/>
                    </a:cubicBezTo>
                    <a:close/>
                  </a:path>
                </a:pathLst>
              </a:custGeom>
              <a:solidFill>
                <a:srgbClr val="5EE33A"/>
              </a:solidFill>
              <a:ln w="19050" cap="sq">
                <a:solidFill>
                  <a:srgbClr val="5EE33A"/>
                </a:solidFill>
                <a:prstDash val="solid"/>
                <a:miter/>
              </a:ln>
            </p:spPr>
          </p:sp>
        </p:grpSp>
      </p:grpSp>
      <p:grpSp>
        <p:nvGrpSpPr>
          <p:cNvPr name="Group 23" id="23"/>
          <p:cNvGrpSpPr/>
          <p:nvPr/>
        </p:nvGrpSpPr>
        <p:grpSpPr>
          <a:xfrm rot="0">
            <a:off x="16716337" y="5324465"/>
            <a:ext cx="628650" cy="628650"/>
            <a:chOff x="0" y="0"/>
            <a:chExt cx="838200" cy="8382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38200" cy="838200"/>
            </a:xfrm>
            <a:custGeom>
              <a:avLst/>
              <a:gdLst/>
              <a:ahLst/>
              <a:cxnLst/>
              <a:rect r="r" b="b" t="t" l="l"/>
              <a:pathLst>
                <a:path h="838200" w="838200">
                  <a:moveTo>
                    <a:pt x="0" y="0"/>
                  </a:moveTo>
                  <a:lnTo>
                    <a:pt x="838200" y="0"/>
                  </a:lnTo>
                  <a:lnTo>
                    <a:pt x="838200" y="838200"/>
                  </a:lnTo>
                  <a:lnTo>
                    <a:pt x="0" y="838200"/>
                  </a:lnTo>
                  <a:close/>
                </a:path>
              </a:pathLst>
            </a:custGeom>
            <a:solidFill>
              <a:srgbClr val="14330F"/>
            </a:solidFill>
            <a:ln w="19050" cap="sq">
              <a:solidFill>
                <a:srgbClr val="14330F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16849687" y="5457815"/>
            <a:ext cx="361950" cy="361950"/>
            <a:chOff x="0" y="0"/>
            <a:chExt cx="482600" cy="4826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482600" cy="482600"/>
            </a:xfrm>
            <a:custGeom>
              <a:avLst/>
              <a:gdLst/>
              <a:ahLst/>
              <a:cxnLst/>
              <a:rect r="r" b="b" t="t" l="l"/>
              <a:pathLst>
                <a:path h="482600" w="482600">
                  <a:moveTo>
                    <a:pt x="0" y="241300"/>
                  </a:moveTo>
                  <a:cubicBezTo>
                    <a:pt x="0" y="108077"/>
                    <a:pt x="108077" y="0"/>
                    <a:pt x="241300" y="0"/>
                  </a:cubicBezTo>
                  <a:cubicBezTo>
                    <a:pt x="374523" y="0"/>
                    <a:pt x="482600" y="108077"/>
                    <a:pt x="482600" y="241300"/>
                  </a:cubicBezTo>
                  <a:cubicBezTo>
                    <a:pt x="482600" y="374523"/>
                    <a:pt x="374523" y="482600"/>
                    <a:pt x="241300" y="482600"/>
                  </a:cubicBezTo>
                  <a:cubicBezTo>
                    <a:pt x="108077" y="482600"/>
                    <a:pt x="0" y="374523"/>
                    <a:pt x="0" y="241300"/>
                  </a:cubicBez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  <a:ln w="57150" cap="sq">
              <a:solidFill>
                <a:srgbClr val="5EE33A"/>
              </a:solidFill>
              <a:prstDash val="solid"/>
              <a:miter/>
            </a:ln>
          </p:spPr>
        </p:sp>
      </p:grpSp>
      <p:sp>
        <p:nvSpPr>
          <p:cNvPr name="Freeform 27" id="27"/>
          <p:cNvSpPr/>
          <p:nvPr/>
        </p:nvSpPr>
        <p:spPr>
          <a:xfrm flipH="false" flipV="false" rot="1993593">
            <a:off x="7287509" y="3808429"/>
            <a:ext cx="9517607" cy="3836785"/>
          </a:xfrm>
          <a:custGeom>
            <a:avLst/>
            <a:gdLst/>
            <a:ahLst/>
            <a:cxnLst/>
            <a:rect r="r" b="b" t="t" l="l"/>
            <a:pathLst>
              <a:path h="3836785" w="9517607">
                <a:moveTo>
                  <a:pt x="0" y="0"/>
                </a:moveTo>
                <a:lnTo>
                  <a:pt x="9517608" y="0"/>
                </a:lnTo>
                <a:lnTo>
                  <a:pt x="9517608" y="3836786"/>
                </a:lnTo>
                <a:lnTo>
                  <a:pt x="0" y="383678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8" id="28"/>
          <p:cNvGrpSpPr/>
          <p:nvPr/>
        </p:nvGrpSpPr>
        <p:grpSpPr>
          <a:xfrm rot="0">
            <a:off x="694763" y="5143500"/>
            <a:ext cx="11217969" cy="3080141"/>
            <a:chOff x="0" y="0"/>
            <a:chExt cx="14957292" cy="4106855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14957292" cy="38224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377"/>
                </a:lnSpc>
              </a:pPr>
              <a:r>
                <a:rPr lang="en-US" sz="18647" b="true">
                  <a:solidFill>
                    <a:srgbClr val="5EE33A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&gt;RAM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215154" y="3338037"/>
              <a:ext cx="13838689" cy="768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704"/>
                </a:lnSpc>
              </a:pPr>
              <a:r>
                <a:rPr lang="en-US" sz="3087">
                  <a:solidFill>
                    <a:srgbClr val="FACC15"/>
                  </a:solidFill>
                  <a:latin typeface="Space Mono"/>
                  <a:ea typeface="Space Mono"/>
                  <a:cs typeface="Space Mono"/>
                  <a:sym typeface="Space Mono"/>
                </a:rPr>
                <a:t>Miriam Portales Ortiz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1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371475"/>
            <a:ext cx="18306593" cy="57150"/>
            <a:chOff x="0" y="0"/>
            <a:chExt cx="2440879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764" cy="76200"/>
            </a:xfrm>
            <a:custGeom>
              <a:avLst/>
              <a:gdLst/>
              <a:ahLst/>
              <a:cxnLst/>
              <a:rect r="r" b="b" t="t" l="l"/>
              <a:pathLst>
                <a:path h="76200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-9525" y="9858346"/>
            <a:ext cx="18306593" cy="57150"/>
            <a:chOff x="0" y="0"/>
            <a:chExt cx="24408790" cy="76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8764" cy="76200"/>
            </a:xfrm>
            <a:custGeom>
              <a:avLst/>
              <a:gdLst/>
              <a:ahLst/>
              <a:cxnLst/>
              <a:rect r="r" b="b" t="t" l="l"/>
              <a:pathLst>
                <a:path h="76200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1204912" y="2319328"/>
            <a:ext cx="7762856" cy="5362565"/>
            <a:chOff x="0" y="0"/>
            <a:chExt cx="10350475" cy="715008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350500" cy="7150100"/>
            </a:xfrm>
            <a:custGeom>
              <a:avLst/>
              <a:gdLst/>
              <a:ahLst/>
              <a:cxnLst/>
              <a:rect r="r" b="b" t="t" l="l"/>
              <a:pathLst>
                <a:path h="7150100" w="10350500">
                  <a:moveTo>
                    <a:pt x="0" y="147066"/>
                  </a:moveTo>
                  <a:cubicBezTo>
                    <a:pt x="0" y="65786"/>
                    <a:pt x="65786" y="0"/>
                    <a:pt x="147066" y="0"/>
                  </a:cubicBezTo>
                  <a:lnTo>
                    <a:pt x="10203434" y="0"/>
                  </a:lnTo>
                  <a:cubicBezTo>
                    <a:pt x="10284587" y="0"/>
                    <a:pt x="10350500" y="65786"/>
                    <a:pt x="10350500" y="147066"/>
                  </a:cubicBezTo>
                  <a:lnTo>
                    <a:pt x="10350500" y="7003034"/>
                  </a:lnTo>
                  <a:cubicBezTo>
                    <a:pt x="10350500" y="7084314"/>
                    <a:pt x="10284714" y="7150100"/>
                    <a:pt x="10203434" y="7150100"/>
                  </a:cubicBezTo>
                  <a:lnTo>
                    <a:pt x="147066" y="7150100"/>
                  </a:lnTo>
                  <a:cubicBezTo>
                    <a:pt x="65786" y="7150100"/>
                    <a:pt x="0" y="7084187"/>
                    <a:pt x="0" y="7003034"/>
                  </a:cubicBezTo>
                  <a:close/>
                </a:path>
              </a:pathLst>
            </a:custGeom>
            <a:solidFill>
              <a:srgbClr val="0C2810"/>
            </a:solidFill>
            <a:ln w="28575" cap="sq">
              <a:solidFill>
                <a:srgbClr val="2F7D1F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10350475" cy="7159612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3960"/>
                </a:lnSpc>
              </a:pPr>
              <a:r>
                <a:rPr lang="en-US" sz="3300" b="true">
                  <a:solidFill>
                    <a:srgbClr val="5EE33A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Volatile</a:t>
              </a:r>
            </a:p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Loses its information when the computer turns off.</a:t>
              </a:r>
            </a:p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Stores what the CPU needs quickly while programs are running.</a:t>
              </a:r>
            </a:p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FACC15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Examples: RAM, cache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320184" y="2319328"/>
            <a:ext cx="7762856" cy="5362565"/>
            <a:chOff x="0" y="0"/>
            <a:chExt cx="10350475" cy="715008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350500" cy="7150100"/>
            </a:xfrm>
            <a:custGeom>
              <a:avLst/>
              <a:gdLst/>
              <a:ahLst/>
              <a:cxnLst/>
              <a:rect r="r" b="b" t="t" l="l"/>
              <a:pathLst>
                <a:path h="7150100" w="10350500">
                  <a:moveTo>
                    <a:pt x="0" y="147066"/>
                  </a:moveTo>
                  <a:cubicBezTo>
                    <a:pt x="0" y="65786"/>
                    <a:pt x="65786" y="0"/>
                    <a:pt x="147066" y="0"/>
                  </a:cubicBezTo>
                  <a:lnTo>
                    <a:pt x="10203434" y="0"/>
                  </a:lnTo>
                  <a:cubicBezTo>
                    <a:pt x="10284587" y="0"/>
                    <a:pt x="10350500" y="65786"/>
                    <a:pt x="10350500" y="147066"/>
                  </a:cubicBezTo>
                  <a:lnTo>
                    <a:pt x="10350500" y="7003034"/>
                  </a:lnTo>
                  <a:cubicBezTo>
                    <a:pt x="10350500" y="7084314"/>
                    <a:pt x="10284714" y="7150100"/>
                    <a:pt x="10203434" y="7150100"/>
                  </a:cubicBezTo>
                  <a:lnTo>
                    <a:pt x="147066" y="7150100"/>
                  </a:lnTo>
                  <a:cubicBezTo>
                    <a:pt x="65786" y="7150100"/>
                    <a:pt x="0" y="7084187"/>
                    <a:pt x="0" y="7003034"/>
                  </a:cubicBezTo>
                  <a:close/>
                </a:path>
              </a:pathLst>
            </a:custGeom>
            <a:solidFill>
              <a:srgbClr val="0C2810"/>
            </a:solidFill>
            <a:ln w="28575" cap="sq">
              <a:solidFill>
                <a:srgbClr val="2F7D1F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9525"/>
              <a:ext cx="10350475" cy="7159612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3960"/>
                </a:lnSpc>
              </a:pPr>
              <a:r>
                <a:rPr lang="en-US" sz="3300" b="true">
                  <a:solidFill>
                    <a:srgbClr val="5EE33A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Non-volatile</a:t>
              </a:r>
            </a:p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Keeps its information when the computer turns off.</a:t>
              </a:r>
            </a:p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Stores data and instructions for the long term.</a:t>
              </a:r>
            </a:p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FACC15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Examples: ROM, SSDs</a:t>
              </a: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1219200" y="4398081"/>
            <a:ext cx="7411905" cy="2967184"/>
          </a:xfrm>
          <a:custGeom>
            <a:avLst/>
            <a:gdLst/>
            <a:ahLst/>
            <a:cxnLst/>
            <a:rect r="r" b="b" t="t" l="l"/>
            <a:pathLst>
              <a:path h="2967184" w="7411905">
                <a:moveTo>
                  <a:pt x="0" y="0"/>
                </a:moveTo>
                <a:lnTo>
                  <a:pt x="7411905" y="0"/>
                </a:lnTo>
                <a:lnTo>
                  <a:pt x="7411905" y="2967184"/>
                </a:lnTo>
                <a:lnTo>
                  <a:pt x="0" y="29671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698782" y="4964384"/>
            <a:ext cx="3313698" cy="2207848"/>
          </a:xfrm>
          <a:custGeom>
            <a:avLst/>
            <a:gdLst/>
            <a:ahLst/>
            <a:cxnLst/>
            <a:rect r="r" b="b" t="t" l="l"/>
            <a:pathLst>
              <a:path h="2207848" w="3313698">
                <a:moveTo>
                  <a:pt x="0" y="0"/>
                </a:moveTo>
                <a:lnTo>
                  <a:pt x="3313699" y="0"/>
                </a:lnTo>
                <a:lnTo>
                  <a:pt x="3313699" y="2207848"/>
                </a:lnTo>
                <a:lnTo>
                  <a:pt x="0" y="220784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2817928" y="4566227"/>
            <a:ext cx="4328495" cy="2864445"/>
          </a:xfrm>
          <a:custGeom>
            <a:avLst/>
            <a:gdLst/>
            <a:ahLst/>
            <a:cxnLst/>
            <a:rect r="r" b="b" t="t" l="l"/>
            <a:pathLst>
              <a:path h="2864445" w="4328495">
                <a:moveTo>
                  <a:pt x="0" y="0"/>
                </a:moveTo>
                <a:lnTo>
                  <a:pt x="4328494" y="0"/>
                </a:lnTo>
                <a:lnTo>
                  <a:pt x="4328494" y="2864445"/>
                </a:lnTo>
                <a:lnTo>
                  <a:pt x="0" y="286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219200" y="1219200"/>
            <a:ext cx="15849562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5EE33A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&gt;VOLATILE VS NON-VOLATILE MEMORY</a:t>
            </a:r>
          </a:p>
        </p:txBody>
      </p:sp>
    </p:spTree>
  </p:cSld>
  <p:clrMapOvr>
    <a:masterClrMapping/>
  </p:clrMapOvr>
  <p:transition spd="fast">
    <p:cover dir="l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614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371475"/>
            <a:ext cx="18306593" cy="57150"/>
            <a:chOff x="0" y="0"/>
            <a:chExt cx="2440879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764" cy="76200"/>
            </a:xfrm>
            <a:custGeom>
              <a:avLst/>
              <a:gdLst/>
              <a:ahLst/>
              <a:cxnLst/>
              <a:rect r="r" b="b" t="t" l="l"/>
              <a:pathLst>
                <a:path h="76200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-9525" y="9858346"/>
            <a:ext cx="18306593" cy="57150"/>
            <a:chOff x="0" y="0"/>
            <a:chExt cx="24408790" cy="76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8764" cy="76200"/>
            </a:xfrm>
            <a:custGeom>
              <a:avLst/>
              <a:gdLst/>
              <a:ahLst/>
              <a:cxnLst/>
              <a:rect r="r" b="b" t="t" l="l"/>
              <a:pathLst>
                <a:path h="76200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1204912" y="2938453"/>
            <a:ext cx="5108562" cy="5604618"/>
            <a:chOff x="0" y="0"/>
            <a:chExt cx="6811416" cy="747282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811390" cy="7472837"/>
            </a:xfrm>
            <a:custGeom>
              <a:avLst/>
              <a:gdLst/>
              <a:ahLst/>
              <a:cxnLst/>
              <a:rect r="r" b="b" t="t" l="l"/>
              <a:pathLst>
                <a:path h="7472837" w="6811390">
                  <a:moveTo>
                    <a:pt x="0" y="226527"/>
                  </a:moveTo>
                  <a:cubicBezTo>
                    <a:pt x="0" y="101459"/>
                    <a:pt x="66040" y="0"/>
                    <a:pt x="147447" y="0"/>
                  </a:cubicBezTo>
                  <a:lnTo>
                    <a:pt x="6663944" y="0"/>
                  </a:lnTo>
                  <a:cubicBezTo>
                    <a:pt x="6745350" y="0"/>
                    <a:pt x="6811390" y="101459"/>
                    <a:pt x="6811390" y="226527"/>
                  </a:cubicBezTo>
                  <a:lnTo>
                    <a:pt x="6811390" y="7246317"/>
                  </a:lnTo>
                  <a:cubicBezTo>
                    <a:pt x="6811390" y="7371385"/>
                    <a:pt x="6745350" y="7472837"/>
                    <a:pt x="6663944" y="7472837"/>
                  </a:cubicBezTo>
                  <a:lnTo>
                    <a:pt x="147447" y="7472837"/>
                  </a:lnTo>
                  <a:cubicBezTo>
                    <a:pt x="66040" y="7472837"/>
                    <a:pt x="0" y="7371384"/>
                    <a:pt x="0" y="7246317"/>
                  </a:cubicBezTo>
                  <a:close/>
                </a:path>
              </a:pathLst>
            </a:custGeom>
            <a:solidFill>
              <a:srgbClr val="0C2810"/>
            </a:solidFill>
            <a:ln w="28575" cap="sq">
              <a:solidFill>
                <a:srgbClr val="2F7D1F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9525"/>
              <a:ext cx="6811416" cy="7463299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5EE33A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RAM</a:t>
              </a:r>
            </a:p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Volatile. Stores data and instructions for immediate execution. More capacity helps multitasking.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6589700" y="2938453"/>
            <a:ext cx="5108562" cy="5604618"/>
            <a:chOff x="0" y="0"/>
            <a:chExt cx="6811416" cy="747282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811390" cy="7472837"/>
            </a:xfrm>
            <a:custGeom>
              <a:avLst/>
              <a:gdLst/>
              <a:ahLst/>
              <a:cxnLst/>
              <a:rect r="r" b="b" t="t" l="l"/>
              <a:pathLst>
                <a:path h="7472837" w="6811390">
                  <a:moveTo>
                    <a:pt x="0" y="226527"/>
                  </a:moveTo>
                  <a:cubicBezTo>
                    <a:pt x="0" y="101459"/>
                    <a:pt x="66040" y="0"/>
                    <a:pt x="147447" y="0"/>
                  </a:cubicBezTo>
                  <a:lnTo>
                    <a:pt x="6663944" y="0"/>
                  </a:lnTo>
                  <a:cubicBezTo>
                    <a:pt x="6745350" y="0"/>
                    <a:pt x="6811390" y="101459"/>
                    <a:pt x="6811390" y="226527"/>
                  </a:cubicBezTo>
                  <a:lnTo>
                    <a:pt x="6811390" y="7246317"/>
                  </a:lnTo>
                  <a:cubicBezTo>
                    <a:pt x="6811390" y="7371385"/>
                    <a:pt x="6745350" y="7472837"/>
                    <a:pt x="6663944" y="7472837"/>
                  </a:cubicBezTo>
                  <a:lnTo>
                    <a:pt x="147447" y="7472837"/>
                  </a:lnTo>
                  <a:cubicBezTo>
                    <a:pt x="66040" y="7472837"/>
                    <a:pt x="0" y="7371384"/>
                    <a:pt x="0" y="7246317"/>
                  </a:cubicBezTo>
                  <a:close/>
                </a:path>
              </a:pathLst>
            </a:custGeom>
            <a:solidFill>
              <a:srgbClr val="0C2810"/>
            </a:solidFill>
            <a:ln w="28575" cap="sq">
              <a:solidFill>
                <a:srgbClr val="2F7D1F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9525"/>
              <a:ext cx="6811416" cy="7463299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5EE33A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Cache</a:t>
              </a:r>
            </a:p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Volatile. Keeps copies of frequently used RAM data so the CPU works faster. Faster than RAM, but smaller.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1974478" y="2938453"/>
            <a:ext cx="5108562" cy="5604618"/>
            <a:chOff x="0" y="0"/>
            <a:chExt cx="6811416" cy="747282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811390" cy="7472837"/>
            </a:xfrm>
            <a:custGeom>
              <a:avLst/>
              <a:gdLst/>
              <a:ahLst/>
              <a:cxnLst/>
              <a:rect r="r" b="b" t="t" l="l"/>
              <a:pathLst>
                <a:path h="7472837" w="6811390">
                  <a:moveTo>
                    <a:pt x="0" y="226527"/>
                  </a:moveTo>
                  <a:cubicBezTo>
                    <a:pt x="0" y="101459"/>
                    <a:pt x="66040" y="0"/>
                    <a:pt x="147447" y="0"/>
                  </a:cubicBezTo>
                  <a:lnTo>
                    <a:pt x="6663944" y="0"/>
                  </a:lnTo>
                  <a:cubicBezTo>
                    <a:pt x="6745350" y="0"/>
                    <a:pt x="6811390" y="101459"/>
                    <a:pt x="6811390" y="226527"/>
                  </a:cubicBezTo>
                  <a:lnTo>
                    <a:pt x="6811390" y="7246317"/>
                  </a:lnTo>
                  <a:cubicBezTo>
                    <a:pt x="6811390" y="7371385"/>
                    <a:pt x="6745350" y="7472837"/>
                    <a:pt x="6663944" y="7472837"/>
                  </a:cubicBezTo>
                  <a:lnTo>
                    <a:pt x="147447" y="7472837"/>
                  </a:lnTo>
                  <a:cubicBezTo>
                    <a:pt x="66040" y="7472837"/>
                    <a:pt x="0" y="7371384"/>
                    <a:pt x="0" y="7246317"/>
                  </a:cubicBezTo>
                  <a:close/>
                </a:path>
              </a:pathLst>
            </a:custGeom>
            <a:solidFill>
              <a:srgbClr val="0C2810"/>
            </a:solidFill>
            <a:ln w="28575" cap="sq">
              <a:solidFill>
                <a:srgbClr val="2F7D1F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9525"/>
              <a:ext cx="6811416" cy="7463299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5EE33A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ROM</a:t>
              </a:r>
            </a:p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Non-volatile. Its content is not easily changed by the user. Stores start-up instructions and basic hardware settings.</a:t>
              </a: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12612455" y="5629596"/>
            <a:ext cx="3968168" cy="2360188"/>
          </a:xfrm>
          <a:custGeom>
            <a:avLst/>
            <a:gdLst/>
            <a:ahLst/>
            <a:cxnLst/>
            <a:rect r="r" b="b" t="t" l="l"/>
            <a:pathLst>
              <a:path h="2360188" w="3968168">
                <a:moveTo>
                  <a:pt x="0" y="0"/>
                </a:moveTo>
                <a:lnTo>
                  <a:pt x="3968169" y="0"/>
                </a:lnTo>
                <a:lnTo>
                  <a:pt x="3968169" y="2360188"/>
                </a:lnTo>
                <a:lnTo>
                  <a:pt x="0" y="23601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563295" y="4613791"/>
            <a:ext cx="4391798" cy="4391798"/>
          </a:xfrm>
          <a:custGeom>
            <a:avLst/>
            <a:gdLst/>
            <a:ahLst/>
            <a:cxnLst/>
            <a:rect r="r" b="b" t="t" l="l"/>
            <a:pathLst>
              <a:path h="4391798" w="4391798">
                <a:moveTo>
                  <a:pt x="0" y="0"/>
                </a:moveTo>
                <a:lnTo>
                  <a:pt x="4391798" y="0"/>
                </a:lnTo>
                <a:lnTo>
                  <a:pt x="4391798" y="4391798"/>
                </a:lnTo>
                <a:lnTo>
                  <a:pt x="0" y="43917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6855331" y="4876901"/>
            <a:ext cx="4578990" cy="3434242"/>
          </a:xfrm>
          <a:custGeom>
            <a:avLst/>
            <a:gdLst/>
            <a:ahLst/>
            <a:cxnLst/>
            <a:rect r="r" b="b" t="t" l="l"/>
            <a:pathLst>
              <a:path h="3434242" w="4578990">
                <a:moveTo>
                  <a:pt x="0" y="0"/>
                </a:moveTo>
                <a:lnTo>
                  <a:pt x="4578990" y="0"/>
                </a:lnTo>
                <a:lnTo>
                  <a:pt x="4578990" y="3434242"/>
                </a:lnTo>
                <a:lnTo>
                  <a:pt x="0" y="34342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219200" y="1219200"/>
            <a:ext cx="15849562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5EE33A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&gt;RAM, CACHE AND ROM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19200" y="2219315"/>
            <a:ext cx="15849562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FACC15"/>
                </a:solidFill>
                <a:latin typeface="Space Mono"/>
                <a:ea typeface="Space Mono"/>
                <a:cs typeface="Space Mono"/>
                <a:sym typeface="Space Mono"/>
              </a:rPr>
              <a:t>They differ in volatility, speed and function.</a:t>
            </a:r>
          </a:p>
        </p:txBody>
      </p:sp>
    </p:spTree>
  </p:cSld>
  <p:clrMapOvr>
    <a:masterClrMapping/>
  </p:clrMapOvr>
  <p:transition spd="slow">
    <p:push dir="l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1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371475"/>
            <a:ext cx="18306593" cy="57150"/>
            <a:chOff x="0" y="0"/>
            <a:chExt cx="2440879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764" cy="76200"/>
            </a:xfrm>
            <a:custGeom>
              <a:avLst/>
              <a:gdLst/>
              <a:ahLst/>
              <a:cxnLst/>
              <a:rect r="r" b="b" t="t" l="l"/>
              <a:pathLst>
                <a:path h="76200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-9525" y="9858346"/>
            <a:ext cx="18306593" cy="57150"/>
            <a:chOff x="0" y="0"/>
            <a:chExt cx="24408790" cy="76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8764" cy="76200"/>
            </a:xfrm>
            <a:custGeom>
              <a:avLst/>
              <a:gdLst/>
              <a:ahLst/>
              <a:cxnLst/>
              <a:rect r="r" b="b" t="t" l="l"/>
              <a:pathLst>
                <a:path h="76200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graphicFrame>
        <p:nvGraphicFramePr>
          <p:cNvPr name="Table 6" id="6"/>
          <p:cNvGraphicFramePr>
            <a:graphicFrameLocks noGrp="true"/>
          </p:cNvGraphicFramePr>
          <p:nvPr/>
        </p:nvGraphicFramePr>
        <p:xfrm>
          <a:off x="1219197" y="1990720"/>
          <a:ext cx="15792450" cy="3200400"/>
        </p:xfrm>
        <a:graphic>
          <a:graphicData uri="http://schemas.openxmlformats.org/drawingml/2006/table">
            <a:tbl>
              <a:tblPr/>
              <a:tblGrid>
                <a:gridCol w="1922232"/>
                <a:gridCol w="6935109"/>
                <a:gridCol w="6935109"/>
              </a:tblGrid>
              <a:tr h="533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D1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b="true">
                          <a:solidFill>
                            <a:srgbClr val="06140A"/>
                          </a:solidFill>
                          <a:latin typeface="Space Mono Bold"/>
                          <a:ea typeface="Space Mono Bold"/>
                          <a:cs typeface="Space Mono Bold"/>
                          <a:sym typeface="Space Mono Bold"/>
                        </a:rPr>
                        <a:t>DDR4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EE33A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b="true">
                          <a:solidFill>
                            <a:srgbClr val="06140A"/>
                          </a:solidFill>
                          <a:latin typeface="Space Mono Bold"/>
                          <a:ea typeface="Space Mono Bold"/>
                          <a:cs typeface="Space Mono Bold"/>
                          <a:sym typeface="Space Mono Bold"/>
                        </a:rPr>
                        <a:t>DDR5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CC15"/>
                    </a:solidFill>
                  </a:tcPr>
                </a:tc>
              </a:tr>
              <a:tr h="533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b="true">
                          <a:solidFill>
                            <a:srgbClr val="D9FBC8"/>
                          </a:solidFill>
                          <a:latin typeface="Space Mono Bold"/>
                          <a:ea typeface="Space Mono Bold"/>
                          <a:cs typeface="Space Mono Bold"/>
                          <a:sym typeface="Space Mono Bold"/>
                        </a:rPr>
                        <a:t>Type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D9FBC8"/>
                          </a:solidFill>
                          <a:latin typeface="Space Mono"/>
                          <a:ea typeface="Space Mono"/>
                          <a:cs typeface="Space Mono"/>
                          <a:sym typeface="Space Mono"/>
                        </a:rPr>
                        <a:t>Older RAM, fast for everyday tasks and games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D9FBC8"/>
                          </a:solidFill>
                          <a:latin typeface="Space Mono"/>
                          <a:ea typeface="Space Mono"/>
                          <a:cs typeface="Space Mono"/>
                          <a:sym typeface="Space Mono"/>
                        </a:rPr>
                        <a:t>Newer RAM, faster transfers and more efficient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b="true">
                          <a:solidFill>
                            <a:srgbClr val="D9FBC8"/>
                          </a:solidFill>
                          <a:latin typeface="Space Mono Bold"/>
                          <a:ea typeface="Space Mono Bold"/>
                          <a:cs typeface="Space Mono Bold"/>
                          <a:sym typeface="Space Mono Bold"/>
                        </a:rPr>
                        <a:t>Capacity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D9FBC8"/>
                          </a:solidFill>
                          <a:latin typeface="Space Mono"/>
                          <a:ea typeface="Space Mono"/>
                          <a:cs typeface="Space Mono"/>
                          <a:sym typeface="Space Mono"/>
                        </a:rPr>
                        <a:t>8, 16, 32 GB modules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D9FBC8"/>
                          </a:solidFill>
                          <a:latin typeface="Space Mono"/>
                          <a:ea typeface="Space Mono"/>
                          <a:cs typeface="Space Mono"/>
                          <a:sym typeface="Space Mono"/>
                        </a:rPr>
                        <a:t>Same sizes, higher capacity per module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b="true">
                          <a:solidFill>
                            <a:srgbClr val="D9FBC8"/>
                          </a:solidFill>
                          <a:latin typeface="Space Mono Bold"/>
                          <a:ea typeface="Space Mono Bold"/>
                          <a:cs typeface="Space Mono Bold"/>
                          <a:sym typeface="Space Mono Bold"/>
                        </a:rPr>
                        <a:t>Frequency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D9FBC8"/>
                          </a:solidFill>
                          <a:latin typeface="Space Mono"/>
                          <a:ea typeface="Space Mono"/>
                          <a:cs typeface="Space Mono"/>
                          <a:sym typeface="Space Mono"/>
                        </a:rPr>
                        <a:t>Usually around 3200 MT/s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D9FBC8"/>
                          </a:solidFill>
                          <a:latin typeface="Space Mono"/>
                          <a:ea typeface="Space Mono"/>
                          <a:cs typeface="Space Mono"/>
                          <a:sym typeface="Space Mono"/>
                        </a:rPr>
                        <a:t>Up to 6400 MT/s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b="true">
                          <a:solidFill>
                            <a:srgbClr val="D9FBC8"/>
                          </a:solidFill>
                          <a:latin typeface="Space Mono Bold"/>
                          <a:ea typeface="Space Mono Bold"/>
                          <a:cs typeface="Space Mono Bold"/>
                          <a:sym typeface="Space Mono Bold"/>
                        </a:rPr>
                        <a:t>Latency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D9FBC8"/>
                          </a:solidFill>
                          <a:latin typeface="Space Mono"/>
                          <a:ea typeface="Space Mono"/>
                          <a:cs typeface="Space Mono"/>
                          <a:sym typeface="Space Mono"/>
                        </a:rPr>
                        <a:t>CL16 to CL22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D9FBC8"/>
                          </a:solidFill>
                          <a:latin typeface="Space Mono"/>
                          <a:ea typeface="Space Mono"/>
                          <a:cs typeface="Space Mono"/>
                          <a:sym typeface="Space Mono"/>
                        </a:rPr>
                        <a:t>CL30 to CL40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 b="true">
                          <a:solidFill>
                            <a:srgbClr val="D9FBC8"/>
                          </a:solidFill>
                          <a:latin typeface="Space Mono Bold"/>
                          <a:ea typeface="Space Mono Bold"/>
                          <a:cs typeface="Space Mono Bold"/>
                          <a:sym typeface="Space Mono Bold"/>
                        </a:rPr>
                        <a:t>Channels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D9FBC8"/>
                          </a:solidFill>
                          <a:latin typeface="Space Mono"/>
                          <a:ea typeface="Space Mono"/>
                          <a:cs typeface="Space Mono"/>
                          <a:sym typeface="Space Mono"/>
                        </a:rPr>
                        <a:t>One 64-bit channel per module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D9FBC8"/>
                          </a:solidFill>
                          <a:latin typeface="Space Mono"/>
                          <a:ea typeface="Space Mono"/>
                          <a:cs typeface="Space Mono"/>
                          <a:sym typeface="Space Mono"/>
                        </a:rPr>
                        <a:t>Two 32-bit subchannels per module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2F7D1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Freeform 7" id="7"/>
          <p:cNvSpPr/>
          <p:nvPr/>
        </p:nvSpPr>
        <p:spPr>
          <a:xfrm flipH="false" flipV="false" rot="0">
            <a:off x="6488401" y="6432765"/>
            <a:ext cx="8605333" cy="3655166"/>
          </a:xfrm>
          <a:custGeom>
            <a:avLst/>
            <a:gdLst/>
            <a:ahLst/>
            <a:cxnLst/>
            <a:rect r="r" b="b" t="t" l="l"/>
            <a:pathLst>
              <a:path h="3655166" w="8605333">
                <a:moveTo>
                  <a:pt x="0" y="0"/>
                </a:moveTo>
                <a:lnTo>
                  <a:pt x="8605333" y="0"/>
                </a:lnTo>
                <a:lnTo>
                  <a:pt x="8605333" y="3655165"/>
                </a:lnTo>
                <a:lnTo>
                  <a:pt x="0" y="36551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2497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219200" y="1066800"/>
            <a:ext cx="15849562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5EE33A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&gt;DDR4 VS DDR5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19200" y="5714981"/>
            <a:ext cx="15849562" cy="1238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ACC15"/>
                </a:solidFill>
                <a:latin typeface="Space Mono"/>
                <a:ea typeface="Space Mono"/>
                <a:cs typeface="Space Mono"/>
                <a:sym typeface="Space Mono"/>
              </a:rPr>
              <a:t>MT/s = million transfers per second. A lower CL means a faster response, but speed also matters, so a lower number is not always faster. Dual channel uses two channels instead of one, giving more bandwidth and performance.</a:t>
            </a:r>
          </a:p>
        </p:txBody>
      </p:sp>
    </p:spTree>
  </p:cSld>
  <p:clrMapOvr>
    <a:masterClrMapping/>
  </p:clrMapOvr>
  <p:transition spd="fast">
    <p:cover dir="d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614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371475"/>
            <a:ext cx="18306593" cy="57150"/>
            <a:chOff x="0" y="0"/>
            <a:chExt cx="2440879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764" cy="76200"/>
            </a:xfrm>
            <a:custGeom>
              <a:avLst/>
              <a:gdLst/>
              <a:ahLst/>
              <a:cxnLst/>
              <a:rect r="r" b="b" t="t" l="l"/>
              <a:pathLst>
                <a:path h="76200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-9525" y="9858346"/>
            <a:ext cx="18306593" cy="57150"/>
            <a:chOff x="0" y="0"/>
            <a:chExt cx="24408790" cy="76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8764" cy="76200"/>
            </a:xfrm>
            <a:custGeom>
              <a:avLst/>
              <a:gdLst/>
              <a:ahLst/>
              <a:cxnLst/>
              <a:rect r="r" b="b" t="t" l="l"/>
              <a:pathLst>
                <a:path h="76200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1204912" y="2205028"/>
            <a:ext cx="7800956" cy="5500256"/>
            <a:chOff x="0" y="0"/>
            <a:chExt cx="10401275" cy="733367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401300" cy="7333687"/>
            </a:xfrm>
            <a:custGeom>
              <a:avLst/>
              <a:gdLst/>
              <a:ahLst/>
              <a:cxnLst/>
              <a:rect r="r" b="b" t="t" l="l"/>
              <a:pathLst>
                <a:path h="7333687" w="10401300">
                  <a:moveTo>
                    <a:pt x="0" y="272495"/>
                  </a:moveTo>
                  <a:cubicBezTo>
                    <a:pt x="0" y="122072"/>
                    <a:pt x="66167" y="0"/>
                    <a:pt x="147701" y="0"/>
                  </a:cubicBezTo>
                  <a:lnTo>
                    <a:pt x="10253599" y="0"/>
                  </a:lnTo>
                  <a:cubicBezTo>
                    <a:pt x="10335133" y="0"/>
                    <a:pt x="10401300" y="122072"/>
                    <a:pt x="10401300" y="272495"/>
                  </a:cubicBezTo>
                  <a:lnTo>
                    <a:pt x="10401300" y="7061203"/>
                  </a:lnTo>
                  <a:cubicBezTo>
                    <a:pt x="10401300" y="7211626"/>
                    <a:pt x="10335133" y="7333687"/>
                    <a:pt x="10253599" y="7333687"/>
                  </a:cubicBezTo>
                  <a:lnTo>
                    <a:pt x="147701" y="7333687"/>
                  </a:lnTo>
                  <a:cubicBezTo>
                    <a:pt x="66167" y="7333687"/>
                    <a:pt x="0" y="7211626"/>
                    <a:pt x="0" y="7061203"/>
                  </a:cubicBezTo>
                  <a:close/>
                </a:path>
              </a:pathLst>
            </a:custGeom>
            <a:solidFill>
              <a:srgbClr val="0C2810"/>
            </a:solidFill>
            <a:ln w="28575" cap="sq">
              <a:solidFill>
                <a:srgbClr val="2F7D1F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10401275" cy="73336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4439"/>
                </a:lnSpc>
              </a:pPr>
              <a:r>
                <a:rPr lang="en-US" sz="3699" b="true">
                  <a:solidFill>
                    <a:srgbClr val="5EE33A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DIMM</a:t>
              </a:r>
            </a:p>
            <a:p>
              <a:pPr algn="l">
                <a:lnSpc>
                  <a:spcPts val="2819"/>
                </a:lnSpc>
              </a:pPr>
              <a:r>
                <a:rPr lang="en-US" sz="2349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Bigger. Used in desktop computers, which have more space inside.</a:t>
              </a:r>
            </a:p>
            <a:p>
              <a:pPr algn="l">
                <a:lnSpc>
                  <a:spcPts val="2819"/>
                </a:lnSpc>
              </a:pPr>
              <a:r>
                <a:rPr lang="en-US" sz="2349" b="true">
                  <a:solidFill>
                    <a:srgbClr val="FACC15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DDR4: 288 pins · DDR5: 288 pins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158268" y="2205028"/>
            <a:ext cx="7924781" cy="5500256"/>
            <a:chOff x="0" y="0"/>
            <a:chExt cx="10566375" cy="733367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566400" cy="7333687"/>
            </a:xfrm>
            <a:custGeom>
              <a:avLst/>
              <a:gdLst/>
              <a:ahLst/>
              <a:cxnLst/>
              <a:rect r="r" b="b" t="t" l="l"/>
              <a:pathLst>
                <a:path h="7333687" w="10566400">
                  <a:moveTo>
                    <a:pt x="0" y="272495"/>
                  </a:moveTo>
                  <a:cubicBezTo>
                    <a:pt x="0" y="122072"/>
                    <a:pt x="67217" y="0"/>
                    <a:pt x="150045" y="0"/>
                  </a:cubicBezTo>
                  <a:lnTo>
                    <a:pt x="10416355" y="0"/>
                  </a:lnTo>
                  <a:cubicBezTo>
                    <a:pt x="10499183" y="0"/>
                    <a:pt x="10566400" y="122072"/>
                    <a:pt x="10566400" y="272495"/>
                  </a:cubicBezTo>
                  <a:lnTo>
                    <a:pt x="10566400" y="7061203"/>
                  </a:lnTo>
                  <a:cubicBezTo>
                    <a:pt x="10566400" y="7211626"/>
                    <a:pt x="10499183" y="7333687"/>
                    <a:pt x="10416355" y="7333687"/>
                  </a:cubicBezTo>
                  <a:lnTo>
                    <a:pt x="150045" y="7333687"/>
                  </a:lnTo>
                  <a:cubicBezTo>
                    <a:pt x="67217" y="7333687"/>
                    <a:pt x="0" y="7211626"/>
                    <a:pt x="0" y="7061203"/>
                  </a:cubicBezTo>
                  <a:close/>
                </a:path>
              </a:pathLst>
            </a:custGeom>
            <a:solidFill>
              <a:srgbClr val="0C2810"/>
            </a:solidFill>
            <a:ln w="28575" cap="sq">
              <a:solidFill>
                <a:srgbClr val="2F7D1F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9525"/>
              <a:ext cx="10566375" cy="7343200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4319"/>
                </a:lnSpc>
              </a:pPr>
              <a:r>
                <a:rPr lang="en-US" sz="3599" b="true">
                  <a:solidFill>
                    <a:srgbClr val="5EE33A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SO-DIMM</a:t>
              </a:r>
            </a:p>
            <a:p>
              <a:pPr algn="l">
                <a:lnSpc>
                  <a:spcPts val="2699"/>
                </a:lnSpc>
              </a:pPr>
              <a:r>
                <a:rPr lang="en-US" sz="2249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Smaller. Used in laptops, which have less space inside.</a:t>
              </a:r>
            </a:p>
            <a:p>
              <a:pPr algn="l">
                <a:lnSpc>
                  <a:spcPts val="2699"/>
                </a:lnSpc>
              </a:pPr>
              <a:r>
                <a:rPr lang="en-US" sz="2249" b="true">
                  <a:solidFill>
                    <a:srgbClr val="FACC15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DDR4: 260 pins · DDR5: 262 pins</a:t>
              </a: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108504" y="3383230"/>
            <a:ext cx="9993772" cy="4996886"/>
          </a:xfrm>
          <a:custGeom>
            <a:avLst/>
            <a:gdLst/>
            <a:ahLst/>
            <a:cxnLst/>
            <a:rect r="r" b="b" t="t" l="l"/>
            <a:pathLst>
              <a:path h="4996886" w="9993772">
                <a:moveTo>
                  <a:pt x="0" y="0"/>
                </a:moveTo>
                <a:lnTo>
                  <a:pt x="9993773" y="0"/>
                </a:lnTo>
                <a:lnTo>
                  <a:pt x="9993773" y="4996886"/>
                </a:lnTo>
                <a:lnTo>
                  <a:pt x="0" y="49968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0211312" y="2972326"/>
            <a:ext cx="5818694" cy="5818694"/>
          </a:xfrm>
          <a:custGeom>
            <a:avLst/>
            <a:gdLst/>
            <a:ahLst/>
            <a:cxnLst/>
            <a:rect r="r" b="b" t="t" l="l"/>
            <a:pathLst>
              <a:path h="5818694" w="5818694">
                <a:moveTo>
                  <a:pt x="0" y="0"/>
                </a:moveTo>
                <a:lnTo>
                  <a:pt x="5818694" y="0"/>
                </a:lnTo>
                <a:lnTo>
                  <a:pt x="5818694" y="5818694"/>
                </a:lnTo>
                <a:lnTo>
                  <a:pt x="0" y="58186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219200" y="1219200"/>
            <a:ext cx="15849562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5EE33A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&gt;DIMM VS SO-DIMM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33488" y="8057245"/>
            <a:ext cx="15849562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D9FBC8"/>
                </a:solidFill>
                <a:latin typeface="Space Mono"/>
                <a:ea typeface="Space Mono"/>
                <a:cs typeface="Space Mono"/>
                <a:sym typeface="Space Mono"/>
              </a:rPr>
              <a:t>They work the same way: both store data and help the computer run programs. The difference is their size, and performance depends on speed and other specifications.</a:t>
            </a:r>
          </a:p>
        </p:txBody>
      </p:sp>
    </p:spTree>
  </p:cSld>
  <p:clrMapOvr>
    <a:masterClrMapping/>
  </p:clrMapOvr>
  <p:transition spd="fast">
    <p:cover dir="rd"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1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371475"/>
            <a:ext cx="18306593" cy="57150"/>
            <a:chOff x="0" y="0"/>
            <a:chExt cx="2440879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764" cy="76200"/>
            </a:xfrm>
            <a:custGeom>
              <a:avLst/>
              <a:gdLst/>
              <a:ahLst/>
              <a:cxnLst/>
              <a:rect r="r" b="b" t="t" l="l"/>
              <a:pathLst>
                <a:path h="76200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-9525" y="9858346"/>
            <a:ext cx="18306593" cy="57150"/>
            <a:chOff x="0" y="0"/>
            <a:chExt cx="24408790" cy="76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8764" cy="76200"/>
            </a:xfrm>
            <a:custGeom>
              <a:avLst/>
              <a:gdLst/>
              <a:ahLst/>
              <a:cxnLst/>
              <a:rect r="r" b="b" t="t" l="l"/>
              <a:pathLst>
                <a:path h="76200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518164" y="2319328"/>
            <a:ext cx="8449604" cy="6359872"/>
            <a:chOff x="0" y="0"/>
            <a:chExt cx="10350475" cy="779062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350500" cy="7790491"/>
            </a:xfrm>
            <a:custGeom>
              <a:avLst/>
              <a:gdLst/>
              <a:ahLst/>
              <a:cxnLst/>
              <a:rect r="r" b="b" t="t" l="l"/>
              <a:pathLst>
                <a:path h="7790491" w="10350500">
                  <a:moveTo>
                    <a:pt x="0" y="172496"/>
                  </a:moveTo>
                  <a:cubicBezTo>
                    <a:pt x="0" y="77311"/>
                    <a:pt x="65913" y="0"/>
                    <a:pt x="147066" y="0"/>
                  </a:cubicBezTo>
                  <a:lnTo>
                    <a:pt x="10203307" y="0"/>
                  </a:lnTo>
                  <a:cubicBezTo>
                    <a:pt x="10284587" y="0"/>
                    <a:pt x="10350500" y="77311"/>
                    <a:pt x="10350500" y="172496"/>
                  </a:cubicBezTo>
                  <a:lnTo>
                    <a:pt x="10350500" y="7617994"/>
                  </a:lnTo>
                  <a:cubicBezTo>
                    <a:pt x="10350500" y="7713328"/>
                    <a:pt x="10284587" y="7790490"/>
                    <a:pt x="10203434" y="7790490"/>
                  </a:cubicBezTo>
                  <a:lnTo>
                    <a:pt x="147066" y="7790490"/>
                  </a:lnTo>
                  <a:cubicBezTo>
                    <a:pt x="65913" y="7790637"/>
                    <a:pt x="0" y="7713328"/>
                    <a:pt x="0" y="7617994"/>
                  </a:cubicBezTo>
                  <a:close/>
                </a:path>
              </a:pathLst>
            </a:custGeom>
            <a:solidFill>
              <a:srgbClr val="0C2810"/>
            </a:solidFill>
            <a:ln w="28575" cap="sq">
              <a:solidFill>
                <a:srgbClr val="2F7D1F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10350475" cy="779062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3840"/>
                </a:lnSpc>
              </a:pPr>
              <a:r>
                <a:rPr lang="en-US" sz="3200" b="true">
                  <a:solidFill>
                    <a:srgbClr val="5EE33A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Forgeon Cyclone PLUS V2 DDR4</a:t>
              </a:r>
            </a:p>
            <a:p>
              <a:pPr algn="l">
                <a:lnSpc>
                  <a:spcPts val="3840"/>
                </a:lnSpc>
              </a:pPr>
              <a:r>
                <a:rPr lang="en-US" sz="3200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Capacity: 16 GB (2×8 GB)</a:t>
              </a:r>
            </a:p>
            <a:p>
              <a:pPr algn="l">
                <a:lnSpc>
                  <a:spcPts val="3840"/>
                </a:lnSpc>
              </a:pPr>
              <a:r>
                <a:rPr lang="en-US" sz="3200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Frequency: 3200 MHz</a:t>
              </a:r>
            </a:p>
            <a:p>
              <a:pPr algn="l">
                <a:lnSpc>
                  <a:spcPts val="3840"/>
                </a:lnSpc>
              </a:pPr>
              <a:r>
                <a:rPr lang="en-US" sz="3200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Latency: CL16</a:t>
              </a:r>
            </a:p>
            <a:p>
              <a:pPr algn="l">
                <a:lnSpc>
                  <a:spcPts val="3840"/>
                </a:lnSpc>
              </a:pPr>
              <a:r>
                <a:rPr lang="en-US" sz="3200" b="true">
                  <a:solidFill>
                    <a:srgbClr val="FACC15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149.90€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550527" y="5143500"/>
            <a:ext cx="5698894" cy="2796029"/>
            <a:chOff x="0" y="0"/>
            <a:chExt cx="4063987" cy="19939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064000" cy="1993900"/>
            </a:xfrm>
            <a:custGeom>
              <a:avLst/>
              <a:gdLst/>
              <a:ahLst/>
              <a:cxnLst/>
              <a:rect r="r" b="b" t="t" l="l"/>
              <a:pathLst>
                <a:path h="1993900" w="4064000">
                  <a:moveTo>
                    <a:pt x="0" y="0"/>
                  </a:moveTo>
                  <a:lnTo>
                    <a:pt x="4064000" y="0"/>
                  </a:lnTo>
                  <a:lnTo>
                    <a:pt x="4064000" y="1993900"/>
                  </a:lnTo>
                  <a:lnTo>
                    <a:pt x="0" y="1993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7324" r="0" b="-7324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243993" y="2319328"/>
            <a:ext cx="8429964" cy="6359872"/>
            <a:chOff x="0" y="0"/>
            <a:chExt cx="10350475" cy="780877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350500" cy="7808641"/>
            </a:xfrm>
            <a:custGeom>
              <a:avLst/>
              <a:gdLst/>
              <a:ahLst/>
              <a:cxnLst/>
              <a:rect r="r" b="b" t="t" l="l"/>
              <a:pathLst>
                <a:path h="7808641" w="10350500">
                  <a:moveTo>
                    <a:pt x="0" y="172898"/>
                  </a:moveTo>
                  <a:cubicBezTo>
                    <a:pt x="0" y="77491"/>
                    <a:pt x="65913" y="0"/>
                    <a:pt x="147066" y="0"/>
                  </a:cubicBezTo>
                  <a:lnTo>
                    <a:pt x="10203307" y="0"/>
                  </a:lnTo>
                  <a:cubicBezTo>
                    <a:pt x="10284587" y="0"/>
                    <a:pt x="10350500" y="77491"/>
                    <a:pt x="10350500" y="172898"/>
                  </a:cubicBezTo>
                  <a:lnTo>
                    <a:pt x="10350500" y="7635742"/>
                  </a:lnTo>
                  <a:cubicBezTo>
                    <a:pt x="10350500" y="7731299"/>
                    <a:pt x="10284587" y="7808640"/>
                    <a:pt x="10203434" y="7808640"/>
                  </a:cubicBezTo>
                  <a:lnTo>
                    <a:pt x="147066" y="7808640"/>
                  </a:lnTo>
                  <a:cubicBezTo>
                    <a:pt x="65913" y="7808788"/>
                    <a:pt x="0" y="7731299"/>
                    <a:pt x="0" y="7635742"/>
                  </a:cubicBezTo>
                  <a:close/>
                </a:path>
              </a:pathLst>
            </a:custGeom>
            <a:solidFill>
              <a:srgbClr val="0C2810"/>
            </a:solidFill>
            <a:ln w="28575" cap="sq">
              <a:solidFill>
                <a:srgbClr val="2F7D1F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10350475" cy="7808775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3899"/>
                </a:lnSpc>
              </a:pPr>
              <a:r>
                <a:rPr lang="en-US" sz="3249" b="true">
                  <a:solidFill>
                    <a:srgbClr val="5EE33A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G.Skill Ripjaws V DDR4</a:t>
              </a:r>
            </a:p>
            <a:p>
              <a:pPr algn="l">
                <a:lnSpc>
                  <a:spcPts val="3179"/>
                </a:lnSpc>
              </a:pPr>
              <a:r>
                <a:rPr lang="en-US" sz="2649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Capacity: 32 GB (2×16 GB)</a:t>
              </a:r>
            </a:p>
            <a:p>
              <a:pPr algn="l">
                <a:lnSpc>
                  <a:spcPts val="3179"/>
                </a:lnSpc>
              </a:pPr>
              <a:r>
                <a:rPr lang="en-US" sz="2649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Frequency: 3600 MHz</a:t>
              </a:r>
            </a:p>
            <a:p>
              <a:pPr algn="l">
                <a:lnSpc>
                  <a:spcPts val="3179"/>
                </a:lnSpc>
              </a:pPr>
              <a:r>
                <a:rPr lang="en-US" sz="2649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Latency: CL18</a:t>
              </a:r>
            </a:p>
            <a:p>
              <a:pPr algn="l">
                <a:lnSpc>
                  <a:spcPts val="4439"/>
                </a:lnSpc>
              </a:pPr>
              <a:r>
                <a:rPr lang="en-US" sz="3699" b="true">
                  <a:solidFill>
                    <a:srgbClr val="FACC15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261.99€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335456" y="4810109"/>
            <a:ext cx="3916539" cy="3586141"/>
            <a:chOff x="0" y="0"/>
            <a:chExt cx="4063987" cy="37211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064000" cy="3721150"/>
            </a:xfrm>
            <a:custGeom>
              <a:avLst/>
              <a:gdLst/>
              <a:ahLst/>
              <a:cxnLst/>
              <a:rect r="r" b="b" t="t" l="l"/>
              <a:pathLst>
                <a:path h="3721150" w="4064000">
                  <a:moveTo>
                    <a:pt x="0" y="0"/>
                  </a:moveTo>
                  <a:lnTo>
                    <a:pt x="4064000" y="0"/>
                  </a:lnTo>
                  <a:lnTo>
                    <a:pt x="4064000" y="3721150"/>
                  </a:lnTo>
                  <a:lnTo>
                    <a:pt x="0" y="37211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4606" r="0" b="-4606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219200" y="1219200"/>
            <a:ext cx="15849562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5EE33A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&gt;RAM KITS: DDR4</a:t>
            </a:r>
          </a:p>
        </p:txBody>
      </p:sp>
    </p:spTree>
  </p:cSld>
  <p:clrMapOvr>
    <a:masterClrMapping/>
  </p:clrMapOvr>
  <p:transition spd="slow">
    <p:push dir="l"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614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371475"/>
            <a:ext cx="18306593" cy="57150"/>
            <a:chOff x="0" y="0"/>
            <a:chExt cx="2440879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764" cy="76200"/>
            </a:xfrm>
            <a:custGeom>
              <a:avLst/>
              <a:gdLst/>
              <a:ahLst/>
              <a:cxnLst/>
              <a:rect r="r" b="b" t="t" l="l"/>
              <a:pathLst>
                <a:path h="76200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-9525" y="9858346"/>
            <a:ext cx="18306593" cy="57150"/>
            <a:chOff x="0" y="0"/>
            <a:chExt cx="24408790" cy="76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8764" cy="76200"/>
            </a:xfrm>
            <a:custGeom>
              <a:avLst/>
              <a:gdLst/>
              <a:ahLst/>
              <a:cxnLst/>
              <a:rect r="r" b="b" t="t" l="l"/>
              <a:pathLst>
                <a:path h="76200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1028700" y="2319328"/>
            <a:ext cx="7762856" cy="6737395"/>
            <a:chOff x="0" y="0"/>
            <a:chExt cx="10350475" cy="898319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350500" cy="8983039"/>
            </a:xfrm>
            <a:custGeom>
              <a:avLst/>
              <a:gdLst/>
              <a:ahLst/>
              <a:cxnLst/>
              <a:rect r="r" b="b" t="t" l="l"/>
              <a:pathLst>
                <a:path h="8983039" w="10350500">
                  <a:moveTo>
                    <a:pt x="0" y="198902"/>
                  </a:moveTo>
                  <a:cubicBezTo>
                    <a:pt x="0" y="89145"/>
                    <a:pt x="65913" y="0"/>
                    <a:pt x="147066" y="0"/>
                  </a:cubicBezTo>
                  <a:lnTo>
                    <a:pt x="10203307" y="0"/>
                  </a:lnTo>
                  <a:cubicBezTo>
                    <a:pt x="10284587" y="0"/>
                    <a:pt x="10350500" y="89145"/>
                    <a:pt x="10350500" y="198902"/>
                  </a:cubicBezTo>
                  <a:lnTo>
                    <a:pt x="10350500" y="8784137"/>
                  </a:lnTo>
                  <a:cubicBezTo>
                    <a:pt x="10350500" y="8894066"/>
                    <a:pt x="10284587" y="8983039"/>
                    <a:pt x="10203434" y="8983039"/>
                  </a:cubicBezTo>
                  <a:lnTo>
                    <a:pt x="147066" y="8983039"/>
                  </a:lnTo>
                  <a:cubicBezTo>
                    <a:pt x="65913" y="8983207"/>
                    <a:pt x="0" y="8894066"/>
                    <a:pt x="0" y="8784137"/>
                  </a:cubicBezTo>
                  <a:close/>
                </a:path>
              </a:pathLst>
            </a:custGeom>
            <a:solidFill>
              <a:srgbClr val="0C2810"/>
            </a:solidFill>
            <a:ln w="28575" cap="sq">
              <a:solidFill>
                <a:srgbClr val="2F7D1F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10350475" cy="898319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3840"/>
                </a:lnSpc>
              </a:pPr>
              <a:r>
                <a:rPr lang="en-US" sz="3200" b="true">
                  <a:solidFill>
                    <a:srgbClr val="5EE33A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Kingston FURY Beast DDR5</a:t>
              </a:r>
            </a:p>
            <a:p>
              <a:pPr algn="l">
                <a:lnSpc>
                  <a:spcPts val="3840"/>
                </a:lnSpc>
              </a:pPr>
              <a:r>
                <a:rPr lang="en-US" sz="3200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Capacity: 32 GB (2×16 GB)</a:t>
              </a:r>
            </a:p>
            <a:p>
              <a:pPr algn="l">
                <a:lnSpc>
                  <a:spcPts val="3840"/>
                </a:lnSpc>
              </a:pPr>
              <a:r>
                <a:rPr lang="en-US" sz="3200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Frequency: 5600 MHz</a:t>
              </a:r>
            </a:p>
            <a:p>
              <a:pPr algn="l">
                <a:lnSpc>
                  <a:spcPts val="3840"/>
                </a:lnSpc>
              </a:pPr>
              <a:r>
                <a:rPr lang="en-US" sz="3200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Latency: CL36</a:t>
              </a:r>
            </a:p>
            <a:p>
              <a:pPr algn="l">
                <a:lnSpc>
                  <a:spcPts val="3840"/>
                </a:lnSpc>
              </a:pPr>
              <a:r>
                <a:rPr lang="en-US" sz="3200" b="true">
                  <a:solidFill>
                    <a:srgbClr val="FACC15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€629.90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243993" y="2319328"/>
            <a:ext cx="7762856" cy="6737395"/>
            <a:chOff x="0" y="0"/>
            <a:chExt cx="10350475" cy="898319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350500" cy="8983039"/>
            </a:xfrm>
            <a:custGeom>
              <a:avLst/>
              <a:gdLst/>
              <a:ahLst/>
              <a:cxnLst/>
              <a:rect r="r" b="b" t="t" l="l"/>
              <a:pathLst>
                <a:path h="8983039" w="10350500">
                  <a:moveTo>
                    <a:pt x="0" y="198902"/>
                  </a:moveTo>
                  <a:cubicBezTo>
                    <a:pt x="0" y="89145"/>
                    <a:pt x="65913" y="0"/>
                    <a:pt x="147066" y="0"/>
                  </a:cubicBezTo>
                  <a:lnTo>
                    <a:pt x="10203307" y="0"/>
                  </a:lnTo>
                  <a:cubicBezTo>
                    <a:pt x="10284587" y="0"/>
                    <a:pt x="10350500" y="89145"/>
                    <a:pt x="10350500" y="198902"/>
                  </a:cubicBezTo>
                  <a:lnTo>
                    <a:pt x="10350500" y="8784137"/>
                  </a:lnTo>
                  <a:cubicBezTo>
                    <a:pt x="10350500" y="8894066"/>
                    <a:pt x="10284587" y="8983039"/>
                    <a:pt x="10203434" y="8983039"/>
                  </a:cubicBezTo>
                  <a:lnTo>
                    <a:pt x="147066" y="8983039"/>
                  </a:lnTo>
                  <a:cubicBezTo>
                    <a:pt x="65913" y="8983207"/>
                    <a:pt x="0" y="8894066"/>
                    <a:pt x="0" y="8784137"/>
                  </a:cubicBezTo>
                  <a:close/>
                </a:path>
              </a:pathLst>
            </a:custGeom>
            <a:solidFill>
              <a:srgbClr val="0C2810"/>
            </a:solidFill>
            <a:ln w="28575" cap="sq">
              <a:solidFill>
                <a:srgbClr val="2F7D1F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10350475" cy="898319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l">
                <a:lnSpc>
                  <a:spcPts val="3840"/>
                </a:lnSpc>
              </a:pPr>
              <a:r>
                <a:rPr lang="en-US" sz="3200" b="true">
                  <a:solidFill>
                    <a:srgbClr val="5EE33A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Corsair Vengeance DDR5</a:t>
              </a:r>
            </a:p>
            <a:p>
              <a:pPr algn="l">
                <a:lnSpc>
                  <a:spcPts val="3840"/>
                </a:lnSpc>
              </a:pPr>
              <a:r>
                <a:rPr lang="en-US" sz="3200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Capacity: 32 GB (2×16 GB)</a:t>
              </a:r>
            </a:p>
            <a:p>
              <a:pPr algn="l">
                <a:lnSpc>
                  <a:spcPts val="3840"/>
                </a:lnSpc>
              </a:pPr>
              <a:r>
                <a:rPr lang="en-US" sz="3200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Frequency: 6000 MHz</a:t>
              </a:r>
            </a:p>
            <a:p>
              <a:pPr algn="l">
                <a:lnSpc>
                  <a:spcPts val="3840"/>
                </a:lnSpc>
              </a:pPr>
              <a:r>
                <a:rPr lang="en-US" sz="3200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Latency: CL38</a:t>
              </a:r>
            </a:p>
            <a:p>
              <a:pPr algn="l">
                <a:lnSpc>
                  <a:spcPts val="3840"/>
                </a:lnSpc>
              </a:pPr>
              <a:r>
                <a:rPr lang="en-US" sz="3200" b="true">
                  <a:solidFill>
                    <a:srgbClr val="FACC15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€542.90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720846" y="4187200"/>
            <a:ext cx="6356146" cy="4485541"/>
            <a:chOff x="0" y="0"/>
            <a:chExt cx="4063987" cy="286796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064000" cy="2867961"/>
            </a:xfrm>
            <a:custGeom>
              <a:avLst/>
              <a:gdLst/>
              <a:ahLst/>
              <a:cxnLst/>
              <a:rect r="r" b="b" t="t" l="l"/>
              <a:pathLst>
                <a:path h="2867961" w="4064000">
                  <a:moveTo>
                    <a:pt x="0" y="0"/>
                  </a:moveTo>
                  <a:lnTo>
                    <a:pt x="4064000" y="0"/>
                  </a:lnTo>
                  <a:lnTo>
                    <a:pt x="4064000" y="2867961"/>
                  </a:lnTo>
                  <a:lnTo>
                    <a:pt x="0" y="28679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20851" r="0" b="-2085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2592703" y="4318309"/>
            <a:ext cx="5849735" cy="4573351"/>
            <a:chOff x="0" y="0"/>
            <a:chExt cx="4063987" cy="317724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064000" cy="3177245"/>
            </a:xfrm>
            <a:custGeom>
              <a:avLst/>
              <a:gdLst/>
              <a:ahLst/>
              <a:cxnLst/>
              <a:rect r="r" b="b" t="t" l="l"/>
              <a:pathLst>
                <a:path h="3177245" w="4064000">
                  <a:moveTo>
                    <a:pt x="0" y="0"/>
                  </a:moveTo>
                  <a:lnTo>
                    <a:pt x="4064000" y="0"/>
                  </a:lnTo>
                  <a:lnTo>
                    <a:pt x="4064000" y="3177245"/>
                  </a:lnTo>
                  <a:lnTo>
                    <a:pt x="0" y="31772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3954" r="0" b="-13954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219200" y="1219200"/>
            <a:ext cx="15849562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5EE33A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&gt;RAM KITS: DDR5</a:t>
            </a:r>
          </a:p>
        </p:txBody>
      </p:sp>
    </p:spTree>
  </p:cSld>
  <p:clrMapOvr>
    <a:masterClrMapping/>
  </p:clrMapOvr>
  <p:transition spd="fast">
    <p:fade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1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371475"/>
            <a:ext cx="18306593" cy="57150"/>
            <a:chOff x="0" y="0"/>
            <a:chExt cx="2440879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764" cy="76200"/>
            </a:xfrm>
            <a:custGeom>
              <a:avLst/>
              <a:gdLst/>
              <a:ahLst/>
              <a:cxnLst/>
              <a:rect r="r" b="b" t="t" l="l"/>
              <a:pathLst>
                <a:path h="76200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-9525" y="9858346"/>
            <a:ext cx="18306593" cy="57150"/>
            <a:chOff x="0" y="0"/>
            <a:chExt cx="24408790" cy="76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8764" cy="76200"/>
            </a:xfrm>
            <a:custGeom>
              <a:avLst/>
              <a:gdLst/>
              <a:ahLst/>
              <a:cxnLst/>
              <a:rect r="r" b="b" t="t" l="l"/>
              <a:pathLst>
                <a:path h="76200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sp>
        <p:nvSpPr>
          <p:cNvPr name="TextBox 6" id="6"/>
          <p:cNvSpPr txBox="true"/>
          <p:nvPr/>
        </p:nvSpPr>
        <p:spPr>
          <a:xfrm rot="0">
            <a:off x="1219200" y="809625"/>
            <a:ext cx="15849562" cy="630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5EE33A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&gt;PYRAMID MEMORY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5653268" y="1514475"/>
            <a:ext cx="1799844" cy="1543050"/>
          </a:xfrm>
          <a:custGeom>
            <a:avLst/>
            <a:gdLst/>
            <a:ahLst/>
            <a:cxnLst/>
            <a:rect r="r" b="b" t="t" l="l"/>
            <a:pathLst>
              <a:path h="1543050" w="1799844">
                <a:moveTo>
                  <a:pt x="0" y="0"/>
                </a:moveTo>
                <a:lnTo>
                  <a:pt x="1799844" y="0"/>
                </a:lnTo>
                <a:lnTo>
                  <a:pt x="1799844" y="1543050"/>
                </a:lnTo>
                <a:lnTo>
                  <a:pt x="0" y="154305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4076690" y="1543050"/>
            <a:ext cx="4952990" cy="1485900"/>
            <a:chOff x="0" y="0"/>
            <a:chExt cx="6603987" cy="19812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603984" cy="1981196"/>
            </a:xfrm>
            <a:custGeom>
              <a:avLst/>
              <a:gdLst/>
              <a:ahLst/>
              <a:cxnLst/>
              <a:rect r="r" b="b" t="t" l="l"/>
              <a:pathLst>
                <a:path h="1981196" w="6603984">
                  <a:moveTo>
                    <a:pt x="0" y="0"/>
                  </a:moveTo>
                  <a:lnTo>
                    <a:pt x="6603984" y="0"/>
                  </a:lnTo>
                  <a:lnTo>
                    <a:pt x="6603984" y="1981196"/>
                  </a:lnTo>
                  <a:lnTo>
                    <a:pt x="0" y="1981196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6603987" cy="1981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6140A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CPU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6140A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Register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381125" y="1857375"/>
            <a:ext cx="2247890" cy="857250"/>
            <a:chOff x="0" y="0"/>
            <a:chExt cx="2997187" cy="1143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997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2997200">
                  <a:moveTo>
                    <a:pt x="0" y="0"/>
                  </a:moveTo>
                  <a:lnTo>
                    <a:pt x="2475992" y="0"/>
                  </a:lnTo>
                  <a:lnTo>
                    <a:pt x="2997200" y="571500"/>
                  </a:lnTo>
                  <a:lnTo>
                    <a:pt x="2475992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FACC15"/>
            </a:solidFill>
            <a:ln w="57150" cap="sq">
              <a:solidFill>
                <a:srgbClr val="06140A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1409700" y="1885950"/>
            <a:ext cx="1809750" cy="800100"/>
            <a:chOff x="0" y="0"/>
            <a:chExt cx="2413000" cy="1066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412994" cy="1066798"/>
            </a:xfrm>
            <a:custGeom>
              <a:avLst/>
              <a:gdLst/>
              <a:ahLst/>
              <a:cxnLst/>
              <a:rect r="r" b="b" t="t" l="l"/>
              <a:pathLst>
                <a:path h="1066798" w="2412994">
                  <a:moveTo>
                    <a:pt x="0" y="0"/>
                  </a:moveTo>
                  <a:lnTo>
                    <a:pt x="2412994" y="0"/>
                  </a:lnTo>
                  <a:lnTo>
                    <a:pt x="2412994" y="1066798"/>
                  </a:lnTo>
                  <a:lnTo>
                    <a:pt x="0" y="1066798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6723" t="0" r="-6723" b="0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2413000" cy="1066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06140A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Level 0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9829771" y="1543050"/>
            <a:ext cx="7238981" cy="1485900"/>
            <a:chOff x="0" y="0"/>
            <a:chExt cx="9651975" cy="19812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9651976" cy="1981196"/>
            </a:xfrm>
            <a:custGeom>
              <a:avLst/>
              <a:gdLst/>
              <a:ahLst/>
              <a:cxnLst/>
              <a:rect r="r" b="b" t="t" l="l"/>
              <a:pathLst>
                <a:path h="1981196" w="9651976">
                  <a:moveTo>
                    <a:pt x="0" y="0"/>
                  </a:moveTo>
                  <a:lnTo>
                    <a:pt x="9651976" y="0"/>
                  </a:lnTo>
                  <a:lnTo>
                    <a:pt x="9651976" y="1981196"/>
                  </a:lnTo>
                  <a:lnTo>
                    <a:pt x="0" y="1981196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4926" r="0" b="-44927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0"/>
              <a:ext cx="9651975" cy="1981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FACC15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Level 0 – CPU Registers</a:t>
              </a:r>
            </a:p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The fastest and smallest memory. Inside the CPU, it holds the data in use right now.</a:t>
              </a: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5162921" y="3000365"/>
            <a:ext cx="2780528" cy="1543050"/>
          </a:xfrm>
          <a:custGeom>
            <a:avLst/>
            <a:gdLst/>
            <a:ahLst/>
            <a:cxnLst/>
            <a:rect r="r" b="b" t="t" l="l"/>
            <a:pathLst>
              <a:path h="1543050" w="2780528">
                <a:moveTo>
                  <a:pt x="0" y="0"/>
                </a:moveTo>
                <a:lnTo>
                  <a:pt x="2780529" y="0"/>
                </a:lnTo>
                <a:lnTo>
                  <a:pt x="2780529" y="1543050"/>
                </a:lnTo>
                <a:lnTo>
                  <a:pt x="0" y="154305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4076690" y="3028940"/>
            <a:ext cx="4952990" cy="1485900"/>
            <a:chOff x="0" y="0"/>
            <a:chExt cx="6603987" cy="19812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603984" cy="1981196"/>
            </a:xfrm>
            <a:custGeom>
              <a:avLst/>
              <a:gdLst/>
              <a:ahLst/>
              <a:cxnLst/>
              <a:rect r="r" b="b" t="t" l="l"/>
              <a:pathLst>
                <a:path h="1981196" w="6603984">
                  <a:moveTo>
                    <a:pt x="0" y="0"/>
                  </a:moveTo>
                  <a:lnTo>
                    <a:pt x="6603984" y="0"/>
                  </a:lnTo>
                  <a:lnTo>
                    <a:pt x="6603984" y="1981196"/>
                  </a:lnTo>
                  <a:lnTo>
                    <a:pt x="0" y="1981196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6603987" cy="1981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6140A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Cache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381125" y="3343265"/>
            <a:ext cx="2247890" cy="857250"/>
            <a:chOff x="0" y="0"/>
            <a:chExt cx="2997187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997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2997200">
                  <a:moveTo>
                    <a:pt x="0" y="0"/>
                  </a:moveTo>
                  <a:lnTo>
                    <a:pt x="2475992" y="0"/>
                  </a:lnTo>
                  <a:lnTo>
                    <a:pt x="2997200" y="571500"/>
                  </a:lnTo>
                  <a:lnTo>
                    <a:pt x="2475992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A3E635"/>
            </a:solidFill>
            <a:ln w="57150" cap="sq">
              <a:solidFill>
                <a:srgbClr val="06140A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1409700" y="3371840"/>
            <a:ext cx="1809750" cy="800100"/>
            <a:chOff x="0" y="0"/>
            <a:chExt cx="2413000" cy="1066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412994" cy="1066798"/>
            </a:xfrm>
            <a:custGeom>
              <a:avLst/>
              <a:gdLst/>
              <a:ahLst/>
              <a:cxnLst/>
              <a:rect r="r" b="b" t="t" l="l"/>
              <a:pathLst>
                <a:path h="1066798" w="2412994">
                  <a:moveTo>
                    <a:pt x="0" y="0"/>
                  </a:moveTo>
                  <a:lnTo>
                    <a:pt x="2412994" y="0"/>
                  </a:lnTo>
                  <a:lnTo>
                    <a:pt x="2412994" y="1066798"/>
                  </a:lnTo>
                  <a:lnTo>
                    <a:pt x="0" y="1066798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6723" t="0" r="-6723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0"/>
              <a:ext cx="2413000" cy="1066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06140A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Level 1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9829771" y="3028940"/>
            <a:ext cx="7238981" cy="1485900"/>
            <a:chOff x="0" y="0"/>
            <a:chExt cx="9651975" cy="19812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9651976" cy="1981196"/>
            </a:xfrm>
            <a:custGeom>
              <a:avLst/>
              <a:gdLst/>
              <a:ahLst/>
              <a:cxnLst/>
              <a:rect r="r" b="b" t="t" l="l"/>
              <a:pathLst>
                <a:path h="1981196" w="9651976">
                  <a:moveTo>
                    <a:pt x="0" y="0"/>
                  </a:moveTo>
                  <a:lnTo>
                    <a:pt x="9651976" y="0"/>
                  </a:lnTo>
                  <a:lnTo>
                    <a:pt x="9651976" y="1981196"/>
                  </a:lnTo>
                  <a:lnTo>
                    <a:pt x="0" y="1981196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4926" r="0" b="-44927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9651975" cy="1981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A3E635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Level 1 – Cache Memory</a:t>
              </a:r>
            </a:p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Very fast memory close to the CPU. Stores frequently used data.</a:t>
              </a:r>
            </a:p>
          </p:txBody>
        </p:sp>
      </p:grpSp>
      <p:sp>
        <p:nvSpPr>
          <p:cNvPr name="Freeform 31" id="31"/>
          <p:cNvSpPr/>
          <p:nvPr/>
        </p:nvSpPr>
        <p:spPr>
          <a:xfrm flipH="false" flipV="false" rot="0">
            <a:off x="4672574" y="4486265"/>
            <a:ext cx="3761222" cy="1543050"/>
          </a:xfrm>
          <a:custGeom>
            <a:avLst/>
            <a:gdLst/>
            <a:ahLst/>
            <a:cxnLst/>
            <a:rect r="r" b="b" t="t" l="l"/>
            <a:pathLst>
              <a:path h="1543050" w="3761222">
                <a:moveTo>
                  <a:pt x="0" y="0"/>
                </a:moveTo>
                <a:lnTo>
                  <a:pt x="3761223" y="0"/>
                </a:lnTo>
                <a:lnTo>
                  <a:pt x="3761223" y="1543050"/>
                </a:lnTo>
                <a:lnTo>
                  <a:pt x="0" y="154305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2" id="32"/>
          <p:cNvGrpSpPr/>
          <p:nvPr/>
        </p:nvGrpSpPr>
        <p:grpSpPr>
          <a:xfrm rot="0">
            <a:off x="4076690" y="4514840"/>
            <a:ext cx="4952990" cy="1485900"/>
            <a:chOff x="0" y="0"/>
            <a:chExt cx="6603987" cy="19812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603984" cy="1981196"/>
            </a:xfrm>
            <a:custGeom>
              <a:avLst/>
              <a:gdLst/>
              <a:ahLst/>
              <a:cxnLst/>
              <a:rect r="r" b="b" t="t" l="l"/>
              <a:pathLst>
                <a:path h="1981196" w="6603984">
                  <a:moveTo>
                    <a:pt x="0" y="0"/>
                  </a:moveTo>
                  <a:lnTo>
                    <a:pt x="6603984" y="0"/>
                  </a:lnTo>
                  <a:lnTo>
                    <a:pt x="6603984" y="1981196"/>
                  </a:lnTo>
                  <a:lnTo>
                    <a:pt x="0" y="1981196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6603987" cy="1981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6140A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Main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06140A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Memory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381125" y="4829165"/>
            <a:ext cx="2247890" cy="857250"/>
            <a:chOff x="0" y="0"/>
            <a:chExt cx="2997187" cy="1143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997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2997200">
                  <a:moveTo>
                    <a:pt x="0" y="0"/>
                  </a:moveTo>
                  <a:lnTo>
                    <a:pt x="2475992" y="0"/>
                  </a:lnTo>
                  <a:lnTo>
                    <a:pt x="2997200" y="571500"/>
                  </a:lnTo>
                  <a:lnTo>
                    <a:pt x="2475992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5EE33A"/>
            </a:solidFill>
            <a:ln w="57150" cap="sq">
              <a:solidFill>
                <a:srgbClr val="06140A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1409700" y="4857740"/>
            <a:ext cx="1809750" cy="800100"/>
            <a:chOff x="0" y="0"/>
            <a:chExt cx="2413000" cy="10668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412994" cy="1066798"/>
            </a:xfrm>
            <a:custGeom>
              <a:avLst/>
              <a:gdLst/>
              <a:ahLst/>
              <a:cxnLst/>
              <a:rect r="r" b="b" t="t" l="l"/>
              <a:pathLst>
                <a:path h="1066798" w="2412994">
                  <a:moveTo>
                    <a:pt x="0" y="0"/>
                  </a:moveTo>
                  <a:lnTo>
                    <a:pt x="2412994" y="0"/>
                  </a:lnTo>
                  <a:lnTo>
                    <a:pt x="2412994" y="1066798"/>
                  </a:lnTo>
                  <a:lnTo>
                    <a:pt x="0" y="1066798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6723" t="0" r="-6723" b="0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2413000" cy="1066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06140A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Level 2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9829771" y="4514840"/>
            <a:ext cx="7238981" cy="1485900"/>
            <a:chOff x="0" y="0"/>
            <a:chExt cx="9651975" cy="19812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9651976" cy="1981196"/>
            </a:xfrm>
            <a:custGeom>
              <a:avLst/>
              <a:gdLst/>
              <a:ahLst/>
              <a:cxnLst/>
              <a:rect r="r" b="b" t="t" l="l"/>
              <a:pathLst>
                <a:path h="1981196" w="9651976">
                  <a:moveTo>
                    <a:pt x="0" y="0"/>
                  </a:moveTo>
                  <a:lnTo>
                    <a:pt x="9651976" y="0"/>
                  </a:lnTo>
                  <a:lnTo>
                    <a:pt x="9651976" y="1981196"/>
                  </a:lnTo>
                  <a:lnTo>
                    <a:pt x="0" y="1981196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4926" r="0" b="-44927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0"/>
              <a:ext cx="9651975" cy="1981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5EE33A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Level 2 – Main Memory (RAM)</a:t>
              </a:r>
            </a:p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Holds the programs and data in use right now. Faster than disks, but loses its data when turned off.</a:t>
              </a:r>
            </a:p>
          </p:txBody>
        </p:sp>
      </p:grpSp>
      <p:sp>
        <p:nvSpPr>
          <p:cNvPr name="Freeform 43" id="43"/>
          <p:cNvSpPr/>
          <p:nvPr/>
        </p:nvSpPr>
        <p:spPr>
          <a:xfrm flipH="false" flipV="false" rot="0">
            <a:off x="4182227" y="5972156"/>
            <a:ext cx="4741916" cy="1543050"/>
          </a:xfrm>
          <a:custGeom>
            <a:avLst/>
            <a:gdLst/>
            <a:ahLst/>
            <a:cxnLst/>
            <a:rect r="r" b="b" t="t" l="l"/>
            <a:pathLst>
              <a:path h="1543050" w="4741916">
                <a:moveTo>
                  <a:pt x="0" y="0"/>
                </a:moveTo>
                <a:lnTo>
                  <a:pt x="4741917" y="0"/>
                </a:lnTo>
                <a:lnTo>
                  <a:pt x="4741917" y="1543050"/>
                </a:lnTo>
                <a:lnTo>
                  <a:pt x="0" y="154305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4" id="44"/>
          <p:cNvGrpSpPr/>
          <p:nvPr/>
        </p:nvGrpSpPr>
        <p:grpSpPr>
          <a:xfrm rot="0">
            <a:off x="4076690" y="6000731"/>
            <a:ext cx="4952990" cy="1485900"/>
            <a:chOff x="0" y="0"/>
            <a:chExt cx="6603987" cy="19812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603984" cy="1981196"/>
            </a:xfrm>
            <a:custGeom>
              <a:avLst/>
              <a:gdLst/>
              <a:ahLst/>
              <a:cxnLst/>
              <a:rect r="r" b="b" t="t" l="l"/>
              <a:pathLst>
                <a:path h="1981196" w="6603984">
                  <a:moveTo>
                    <a:pt x="0" y="0"/>
                  </a:moveTo>
                  <a:lnTo>
                    <a:pt x="6603984" y="0"/>
                  </a:lnTo>
                  <a:lnTo>
                    <a:pt x="6603984" y="1981196"/>
                  </a:lnTo>
                  <a:lnTo>
                    <a:pt x="0" y="1981196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6603987" cy="1981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0FDF4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Magnetic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0FDF4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Disk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381125" y="6315056"/>
            <a:ext cx="2247890" cy="857250"/>
            <a:chOff x="0" y="0"/>
            <a:chExt cx="2997187" cy="11430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997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2997200">
                  <a:moveTo>
                    <a:pt x="0" y="0"/>
                  </a:moveTo>
                  <a:lnTo>
                    <a:pt x="2475992" y="0"/>
                  </a:lnTo>
                  <a:lnTo>
                    <a:pt x="2997200" y="571500"/>
                  </a:lnTo>
                  <a:lnTo>
                    <a:pt x="2475992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2F9E44"/>
            </a:solidFill>
            <a:ln w="57150" cap="sq">
              <a:solidFill>
                <a:srgbClr val="06140A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1409700" y="6343631"/>
            <a:ext cx="1809750" cy="800100"/>
            <a:chOff x="0" y="0"/>
            <a:chExt cx="2413000" cy="10668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412994" cy="1066798"/>
            </a:xfrm>
            <a:custGeom>
              <a:avLst/>
              <a:gdLst/>
              <a:ahLst/>
              <a:cxnLst/>
              <a:rect r="r" b="b" t="t" l="l"/>
              <a:pathLst>
                <a:path h="1066798" w="2412994">
                  <a:moveTo>
                    <a:pt x="0" y="0"/>
                  </a:moveTo>
                  <a:lnTo>
                    <a:pt x="2412994" y="0"/>
                  </a:lnTo>
                  <a:lnTo>
                    <a:pt x="2412994" y="1066798"/>
                  </a:lnTo>
                  <a:lnTo>
                    <a:pt x="0" y="1066798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6723" t="0" r="-6723" b="0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0"/>
              <a:ext cx="2413000" cy="1066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0FDF4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Level 3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9829771" y="6000731"/>
            <a:ext cx="7238981" cy="1485900"/>
            <a:chOff x="0" y="0"/>
            <a:chExt cx="9651975" cy="19812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9651976" cy="1981196"/>
            </a:xfrm>
            <a:custGeom>
              <a:avLst/>
              <a:gdLst/>
              <a:ahLst/>
              <a:cxnLst/>
              <a:rect r="r" b="b" t="t" l="l"/>
              <a:pathLst>
                <a:path h="1981196" w="9651976">
                  <a:moveTo>
                    <a:pt x="0" y="0"/>
                  </a:moveTo>
                  <a:lnTo>
                    <a:pt x="9651976" y="0"/>
                  </a:lnTo>
                  <a:lnTo>
                    <a:pt x="9651976" y="1981196"/>
                  </a:lnTo>
                  <a:lnTo>
                    <a:pt x="0" y="1981196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4926" r="0" b="-44927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0"/>
              <a:ext cx="9651975" cy="1981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4ADE80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Level 3 – Magnetic Disk</a:t>
              </a:r>
            </a:p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HDDs store files, programs and the operating system. More capacity than RAM, slower, keeps data when turned off.</a:t>
              </a:r>
            </a:p>
          </p:txBody>
        </p:sp>
      </p:grpSp>
      <p:sp>
        <p:nvSpPr>
          <p:cNvPr name="Freeform 55" id="55"/>
          <p:cNvSpPr/>
          <p:nvPr/>
        </p:nvSpPr>
        <p:spPr>
          <a:xfrm flipH="false" flipV="false" rot="0">
            <a:off x="3691880" y="7458056"/>
            <a:ext cx="5722610" cy="1543050"/>
          </a:xfrm>
          <a:custGeom>
            <a:avLst/>
            <a:gdLst/>
            <a:ahLst/>
            <a:cxnLst/>
            <a:rect r="r" b="b" t="t" l="l"/>
            <a:pathLst>
              <a:path h="1543050" w="5722610">
                <a:moveTo>
                  <a:pt x="0" y="0"/>
                </a:moveTo>
                <a:lnTo>
                  <a:pt x="5722611" y="0"/>
                </a:lnTo>
                <a:lnTo>
                  <a:pt x="5722611" y="1543050"/>
                </a:lnTo>
                <a:lnTo>
                  <a:pt x="0" y="154305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6" id="56"/>
          <p:cNvGrpSpPr/>
          <p:nvPr/>
        </p:nvGrpSpPr>
        <p:grpSpPr>
          <a:xfrm rot="0">
            <a:off x="4076690" y="7486631"/>
            <a:ext cx="4952990" cy="1485900"/>
            <a:chOff x="0" y="0"/>
            <a:chExt cx="6603987" cy="19812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6603984" cy="1981196"/>
            </a:xfrm>
            <a:custGeom>
              <a:avLst/>
              <a:gdLst/>
              <a:ahLst/>
              <a:cxnLst/>
              <a:rect r="r" b="b" t="t" l="l"/>
              <a:pathLst>
                <a:path h="1981196" w="6603984">
                  <a:moveTo>
                    <a:pt x="0" y="0"/>
                  </a:moveTo>
                  <a:lnTo>
                    <a:pt x="6603984" y="0"/>
                  </a:lnTo>
                  <a:lnTo>
                    <a:pt x="6603984" y="1981196"/>
                  </a:lnTo>
                  <a:lnTo>
                    <a:pt x="0" y="1981196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4950" r="0" b="-14950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0"/>
              <a:ext cx="6603987" cy="1981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0FDF4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Magnetic Tape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0FDF4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Optical Disk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1381125" y="7800956"/>
            <a:ext cx="2247890" cy="857250"/>
            <a:chOff x="0" y="0"/>
            <a:chExt cx="2997187" cy="114300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2997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2997200">
                  <a:moveTo>
                    <a:pt x="0" y="0"/>
                  </a:moveTo>
                  <a:lnTo>
                    <a:pt x="2475992" y="0"/>
                  </a:lnTo>
                  <a:lnTo>
                    <a:pt x="2997200" y="571500"/>
                  </a:lnTo>
                  <a:lnTo>
                    <a:pt x="2475992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1F6F2E"/>
            </a:solidFill>
            <a:ln w="57150" cap="sq">
              <a:solidFill>
                <a:srgbClr val="06140A"/>
              </a:solidFill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1409700" y="7829531"/>
            <a:ext cx="1809750" cy="800100"/>
            <a:chOff x="0" y="0"/>
            <a:chExt cx="2413000" cy="106680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2412994" cy="1066798"/>
            </a:xfrm>
            <a:custGeom>
              <a:avLst/>
              <a:gdLst/>
              <a:ahLst/>
              <a:cxnLst/>
              <a:rect r="r" b="b" t="t" l="l"/>
              <a:pathLst>
                <a:path h="1066798" w="2412994">
                  <a:moveTo>
                    <a:pt x="0" y="0"/>
                  </a:moveTo>
                  <a:lnTo>
                    <a:pt x="2412994" y="0"/>
                  </a:lnTo>
                  <a:lnTo>
                    <a:pt x="2412994" y="1066798"/>
                  </a:lnTo>
                  <a:lnTo>
                    <a:pt x="0" y="1066798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-6723" t="0" r="-6723" b="0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0"/>
              <a:ext cx="2413000" cy="1066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0FDF4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Level 4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9829771" y="7486631"/>
            <a:ext cx="7238981" cy="1485900"/>
            <a:chOff x="0" y="0"/>
            <a:chExt cx="9651975" cy="198120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9651976" cy="1981196"/>
            </a:xfrm>
            <a:custGeom>
              <a:avLst/>
              <a:gdLst/>
              <a:ahLst/>
              <a:cxnLst/>
              <a:rect r="r" b="b" t="t" l="l"/>
              <a:pathLst>
                <a:path h="1981196" w="9651976">
                  <a:moveTo>
                    <a:pt x="0" y="0"/>
                  </a:moveTo>
                  <a:lnTo>
                    <a:pt x="9651976" y="0"/>
                  </a:lnTo>
                  <a:lnTo>
                    <a:pt x="9651976" y="1981196"/>
                  </a:lnTo>
                  <a:lnTo>
                    <a:pt x="0" y="1981196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4926" r="0" b="-44927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0"/>
              <a:ext cx="9651975" cy="19812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86EFAC"/>
                  </a:solidFill>
                  <a:latin typeface="Space Mono Bold"/>
                  <a:ea typeface="Space Mono Bold"/>
                  <a:cs typeface="Space Mono Bold"/>
                  <a:sym typeface="Space Mono Bold"/>
                </a:rPr>
                <a:t>Level 4 – Magnetic Tape and Optical Disk</a:t>
              </a:r>
            </a:p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D9FBC8"/>
                  </a:solidFill>
                  <a:latin typeface="Space Mono"/>
                  <a:ea typeface="Space Mono"/>
                  <a:cs typeface="Space Mono"/>
                  <a:sym typeface="Space Mono"/>
                </a:rPr>
                <a:t>Tapes, CDs and DVDs store or back up data. Slow to access, but keep data for a long time.</a:t>
              </a:r>
            </a:p>
          </p:txBody>
        </p:sp>
      </p:grpSp>
      <p:sp>
        <p:nvSpPr>
          <p:cNvPr name="TextBox 67" id="67"/>
          <p:cNvSpPr txBox="true"/>
          <p:nvPr/>
        </p:nvSpPr>
        <p:spPr>
          <a:xfrm rot="0">
            <a:off x="1409700" y="9010631"/>
            <a:ext cx="6667481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ACC15"/>
                </a:solidFill>
                <a:latin typeface="Space Mono"/>
                <a:ea typeface="Space Mono"/>
                <a:cs typeface="Space Mono"/>
                <a:sym typeface="Space Mono"/>
              </a:rPr>
              <a:t>Top: faster, smaller. Bottom: slower, bigger.</a:t>
            </a:r>
          </a:p>
        </p:txBody>
      </p:sp>
    </p:spTree>
  </p:cSld>
  <p:clrMapOvr>
    <a:masterClrMapping/>
  </p:clrMapOvr>
  <p:transition spd="slow">
    <p:push dir="u"/>
  </p:transition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0614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371475"/>
            <a:ext cx="18306593" cy="57150"/>
            <a:chOff x="0" y="0"/>
            <a:chExt cx="24408790" cy="7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764" cy="76200"/>
            </a:xfrm>
            <a:custGeom>
              <a:avLst/>
              <a:gdLst/>
              <a:ahLst/>
              <a:cxnLst/>
              <a:rect r="r" b="b" t="t" l="l"/>
              <a:pathLst>
                <a:path h="76200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-9525" y="9858346"/>
            <a:ext cx="18306593" cy="57150"/>
            <a:chOff x="0" y="0"/>
            <a:chExt cx="24408790" cy="76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8764" cy="76200"/>
            </a:xfrm>
            <a:custGeom>
              <a:avLst/>
              <a:gdLst/>
              <a:ahLst/>
              <a:cxnLst/>
              <a:rect r="r" b="b" t="t" l="l"/>
              <a:pathLst>
                <a:path h="76200" w="24408764">
                  <a:moveTo>
                    <a:pt x="0" y="0"/>
                  </a:moveTo>
                  <a:lnTo>
                    <a:pt x="24408764" y="0"/>
                  </a:lnTo>
                  <a:lnTo>
                    <a:pt x="24408764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1209675" y="904875"/>
            <a:ext cx="876300" cy="95250"/>
            <a:chOff x="0" y="0"/>
            <a:chExt cx="1168400" cy="127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68400" cy="127000"/>
            </a:xfrm>
            <a:custGeom>
              <a:avLst/>
              <a:gdLst/>
              <a:ahLst/>
              <a:cxnLst/>
              <a:rect r="r" b="b" t="t" l="l"/>
              <a:pathLst>
                <a:path h="1270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127000"/>
                  </a:lnTo>
                  <a:lnTo>
                    <a:pt x="0" y="127000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6201987" y="9286856"/>
            <a:ext cx="876300" cy="95250"/>
            <a:chOff x="0" y="0"/>
            <a:chExt cx="1168400" cy="127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68400" cy="127000"/>
            </a:xfrm>
            <a:custGeom>
              <a:avLst/>
              <a:gdLst/>
              <a:ahLst/>
              <a:cxnLst/>
              <a:rect r="r" b="b" t="t" l="l"/>
              <a:pathLst>
                <a:path h="1270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127000"/>
                  </a:lnTo>
                  <a:lnTo>
                    <a:pt x="0" y="127000"/>
                  </a:lnTo>
                  <a:close/>
                </a:path>
              </a:pathLst>
            </a:custGeom>
            <a:solidFill>
              <a:srgbClr val="5EE33A"/>
            </a:solidFill>
            <a:ln w="19050" cap="sq">
              <a:solidFill>
                <a:srgbClr val="5EE33A"/>
              </a:solidFill>
              <a:prstDash val="solid"/>
              <a:miter/>
            </a:ln>
          </p:spPr>
        </p:sp>
      </p:grpSp>
      <p:sp>
        <p:nvSpPr>
          <p:cNvPr name="TextBox 10" id="10"/>
          <p:cNvSpPr txBox="true"/>
          <p:nvPr/>
        </p:nvSpPr>
        <p:spPr>
          <a:xfrm rot="0">
            <a:off x="1219200" y="3438515"/>
            <a:ext cx="10477471" cy="190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00"/>
              </a:lnSpc>
            </a:pPr>
            <a:r>
              <a:rPr lang="en-US" sz="12750" b="true">
                <a:solidFill>
                  <a:srgbClr val="5EE33A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&gt;THANKS!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19200" y="5619740"/>
            <a:ext cx="8572481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 b="true">
                <a:solidFill>
                  <a:srgbClr val="D9FBC8"/>
                </a:solidFill>
                <a:latin typeface="Space Mono Bold"/>
                <a:ea typeface="Space Mono Bold"/>
                <a:cs typeface="Space Mono Bold"/>
                <a:sym typeface="Space Mono Bold"/>
              </a:rPr>
              <a:t>Thank you for your attention</a:t>
            </a:r>
          </a:p>
        </p:txBody>
      </p:sp>
    </p:spTree>
  </p:cSld>
  <p:clrMapOvr>
    <a:masterClrMapping/>
  </p:clrMapOvr>
  <p:transition spd="slow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DAHY0DNNVME</dc:identifier>
  <dcterms:modified xsi:type="dcterms:W3CDTF">2011-08-01T06:04:30Z</dcterms:modified>
  <cp:revision>1</cp:revision>
  <dc:title>RAM-presentation.pptx</dc:title>
</cp:coreProperties>
</file>